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4" r:id="rId4"/>
  </p:sldMasterIdLst>
  <p:notesMasterIdLst>
    <p:notesMasterId r:id="rId19"/>
  </p:notesMasterIdLst>
  <p:handoutMasterIdLst>
    <p:handoutMasterId r:id="rId20"/>
  </p:handoutMasterIdLst>
  <p:sldIdLst>
    <p:sldId id="1497" r:id="rId5"/>
    <p:sldId id="1520" r:id="rId6"/>
    <p:sldId id="1521" r:id="rId7"/>
    <p:sldId id="1519" r:id="rId8"/>
    <p:sldId id="1522" r:id="rId9"/>
    <p:sldId id="1499" r:id="rId10"/>
    <p:sldId id="1511" r:id="rId11"/>
    <p:sldId id="1523" r:id="rId12"/>
    <p:sldId id="1524" r:id="rId13"/>
    <p:sldId id="1527" r:id="rId14"/>
    <p:sldId id="1525" r:id="rId15"/>
    <p:sldId id="1526" r:id="rId16"/>
    <p:sldId id="1512" r:id="rId17"/>
    <p:sldId id="150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B6F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2A1378-3598-8810-E6F9-BBC5302EC80B}" v="3567" dt="2026-05-07T14:36:57.672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65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7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21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22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7824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715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978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918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051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746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618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7D4B28D-BD47-8092-F202-DCD18D1BA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4425" y="1198517"/>
            <a:ext cx="4438650" cy="4438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D4D61D-AA1D-D414-2D63-F3B4B076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708" y="2801929"/>
            <a:ext cx="8686801" cy="2565902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1B0EE02-7A0B-46A0-5F6E-CFBC94BDF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26269"/>
            <a:ext cx="3024899" cy="547908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67AE0A-CAE3-D199-2942-E05831D3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4564F8-E916-4EFF-887D-D1E1BBF6454B}" type="datetime1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BF0A-E355-74AD-4A6E-8FD2BD7A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1D965-1C87-6430-A8A7-B6EB43D8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236231-7728-F430-19B7-A4956EAFC196}"/>
              </a:ext>
            </a:extLst>
          </p:cNvPr>
          <p:cNvCxnSpPr/>
          <p:nvPr/>
        </p:nvCxnSpPr>
        <p:spPr>
          <a:xfrm>
            <a:off x="1450428" y="2522483"/>
            <a:ext cx="0" cy="26249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7463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9ECA965F-086A-7B72-BC9F-EA4CF32BC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02"/>
          <a:stretch/>
        </p:blipFill>
        <p:spPr>
          <a:xfrm>
            <a:off x="421566" y="1836225"/>
            <a:ext cx="5674434" cy="50217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D69ADDC-FB37-4BD0-807F-2EC90205924B}" type="datetime1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272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1770"/>
            <a:ext cx="7525512" cy="193331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353387"/>
            <a:ext cx="10543032" cy="327333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75A1B29-DFBD-4673-8328-3ED6619AAB50}" type="datetime1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2EF41C-4509-4150-C0F1-83BB756ACF5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979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3662" y="561268"/>
            <a:ext cx="9264676" cy="5735465"/>
          </a:xfrm>
        </p:spPr>
        <p:txBody>
          <a:bodyPr anchor="ctr">
            <a:noAutofit/>
          </a:bodyPr>
          <a:lstStyle>
            <a:lvl1pPr marL="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4pPr>
            <a:lvl5pPr marL="9144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7C9592F-4A0D-4D12-B47E-4A7D843B26AD}" type="datetime1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4775AE-F67F-CB44-1D87-AB4D287818A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851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7C0B019-1F65-5FF3-EACC-1DBD4333A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00064" y="557784"/>
            <a:ext cx="5914085" cy="578011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763DD55-592C-903A-3F9C-A96924CF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07302"/>
            <a:ext cx="4361688" cy="164969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4361688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51C0813-C057-2B90-9C5A-3AE995C8973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71625" y="862357"/>
            <a:ext cx="5170964" cy="5170964"/>
          </a:xfrm>
          <a:custGeom>
            <a:avLst/>
            <a:gdLst>
              <a:gd name="connsiteX0" fmla="*/ 2585482 w 5170964"/>
              <a:gd name="connsiteY0" fmla="*/ 0 h 5170964"/>
              <a:gd name="connsiteX1" fmla="*/ 5170964 w 5170964"/>
              <a:gd name="connsiteY1" fmla="*/ 2585482 h 5170964"/>
              <a:gd name="connsiteX2" fmla="*/ 2585482 w 5170964"/>
              <a:gd name="connsiteY2" fmla="*/ 5170964 h 5170964"/>
              <a:gd name="connsiteX3" fmla="*/ 0 w 5170964"/>
              <a:gd name="connsiteY3" fmla="*/ 2585482 h 5170964"/>
              <a:gd name="connsiteX4" fmla="*/ 2585482 w 5170964"/>
              <a:gd name="connsiteY4" fmla="*/ 0 h 517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0964" h="5170964">
                <a:moveTo>
                  <a:pt x="2585482" y="0"/>
                </a:moveTo>
                <a:cubicBezTo>
                  <a:pt x="4013405" y="0"/>
                  <a:pt x="5170964" y="1157560"/>
                  <a:pt x="5170964" y="2585482"/>
                </a:cubicBezTo>
                <a:cubicBezTo>
                  <a:pt x="5170964" y="4013405"/>
                  <a:pt x="4013405" y="5170964"/>
                  <a:pt x="2585482" y="5170964"/>
                </a:cubicBezTo>
                <a:cubicBezTo>
                  <a:pt x="1157560" y="5170964"/>
                  <a:pt x="0" y="4013405"/>
                  <a:pt x="0" y="2585482"/>
                </a:cubicBezTo>
                <a:cubicBezTo>
                  <a:pt x="0" y="1157560"/>
                  <a:pt x="1157560" y="0"/>
                  <a:pt x="2585482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D3302DA-6AFE-4F11-B5FB-C17B82EA8578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2748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B3EB36B-144D-A648-1BD5-DBEDDC79D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8" b="16685"/>
          <a:stretch/>
        </p:blipFill>
        <p:spPr>
          <a:xfrm>
            <a:off x="0" y="2754087"/>
            <a:ext cx="4325917" cy="410391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2BD543F-D939-A8C7-FAFA-B555B276D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6DBE5D1-8623-4EBC-BE64-F118A957A6D2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182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34321655-180C-E5FF-5EBA-CB7C8C900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67"/>
          <a:stretch/>
        </p:blipFill>
        <p:spPr>
          <a:xfrm>
            <a:off x="492638" y="0"/>
            <a:ext cx="4471248" cy="4191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0322" y="5137616"/>
            <a:ext cx="8054173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93371" y="1188720"/>
            <a:ext cx="8593017" cy="2174966"/>
          </a:xfrm>
        </p:spPr>
        <p:txBody>
          <a:bodyPr anchor="b">
            <a:normAutofit/>
          </a:bodyPr>
          <a:lstStyle>
            <a:lvl1pPr marL="0" indent="-457200" defTabSz="914400">
              <a:lnSpc>
                <a:spcPct val="80000"/>
              </a:lnSpc>
              <a:spcBef>
                <a:spcPts val="0"/>
              </a:spcBef>
              <a:buNone/>
              <a:defRPr sz="4500" cap="all" baseline="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B6CF73C-93E7-489E-AE2B-E246A7DB6D93}" type="datetime1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59926F-2327-8B2D-085E-499F8F38779A}"/>
              </a:ext>
            </a:extLst>
          </p:cNvPr>
          <p:cNvCxnSpPr/>
          <p:nvPr/>
        </p:nvCxnSpPr>
        <p:spPr>
          <a:xfrm>
            <a:off x="1551214" y="3477986"/>
            <a:ext cx="0" cy="199208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97277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515E74ED-2A6E-80D7-2247-FD12F2612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00"/>
          <a:stretch/>
        </p:blipFill>
        <p:spPr>
          <a:xfrm>
            <a:off x="462641" y="0"/>
            <a:ext cx="8989429" cy="47554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857" y="3603170"/>
            <a:ext cx="7014009" cy="1507672"/>
          </a:xfrm>
        </p:spPr>
        <p:txBody>
          <a:bodyPr anchor="b">
            <a:noAutofit/>
          </a:bodyPr>
          <a:lstStyle>
            <a:lvl1pPr>
              <a:defRPr sz="4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4133" y="5480958"/>
            <a:ext cx="6360733" cy="744158"/>
          </a:xfrm>
        </p:spPr>
        <p:txBody>
          <a:bodyPr anchor="b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 indent="0">
              <a:lnSpc>
                <a:spcPct val="110000"/>
              </a:lnSpc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ABC5762-7F5E-4C8D-B27D-8990A68BB18F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055BD5-F132-7EB0-787E-04988310DC8B}"/>
              </a:ext>
            </a:extLst>
          </p:cNvPr>
          <p:cNvCxnSpPr>
            <a:cxnSpLocks/>
          </p:cNvCxnSpPr>
          <p:nvPr/>
        </p:nvCxnSpPr>
        <p:spPr>
          <a:xfrm>
            <a:off x="4985657" y="5238749"/>
            <a:ext cx="0" cy="8827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4806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3850" y="907302"/>
            <a:ext cx="4222117" cy="3697488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3850" y="4731335"/>
            <a:ext cx="4222117" cy="1219362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190545-F7D8-0D1C-1BCC-C670CFFE0C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6226810" cy="6190488"/>
          </a:xfrm>
          <a:custGeom>
            <a:avLst/>
            <a:gdLst>
              <a:gd name="connsiteX0" fmla="*/ 186643 w 6226810"/>
              <a:gd name="connsiteY0" fmla="*/ 0 h 6190488"/>
              <a:gd name="connsiteX1" fmla="*/ 6226810 w 6226810"/>
              <a:gd name="connsiteY1" fmla="*/ 0 h 6190488"/>
              <a:gd name="connsiteX2" fmla="*/ 6226810 w 6226810"/>
              <a:gd name="connsiteY2" fmla="*/ 6190488 h 6190488"/>
              <a:gd name="connsiteX3" fmla="*/ 186643 w 6226810"/>
              <a:gd name="connsiteY3" fmla="*/ 6190488 h 6190488"/>
              <a:gd name="connsiteX4" fmla="*/ 0 w 6226810"/>
              <a:gd name="connsiteY4" fmla="*/ 6003845 h 6190488"/>
              <a:gd name="connsiteX5" fmla="*/ 0 w 6226810"/>
              <a:gd name="connsiteY5" fmla="*/ 186643 h 6190488"/>
              <a:gd name="connsiteX6" fmla="*/ 186643 w 622681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6810" h="6190488">
                <a:moveTo>
                  <a:pt x="186643" y="0"/>
                </a:moveTo>
                <a:lnTo>
                  <a:pt x="6226810" y="0"/>
                </a:lnTo>
                <a:lnTo>
                  <a:pt x="622681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529916"/>
            <a:ext cx="170762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54E9985-91B3-42C8-B8D8-B565E04A5E57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DF5215-34B8-BE6B-A816-58B2F37B1D5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449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476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5" r:id="rId1"/>
    <p:sldLayoutId id="2147483946" r:id="rId2"/>
    <p:sldLayoutId id="2147483947" r:id="rId3"/>
    <p:sldLayoutId id="2147483948" r:id="rId4"/>
    <p:sldLayoutId id="2147483949" r:id="rId5"/>
    <p:sldLayoutId id="2147483950" r:id="rId6"/>
    <p:sldLayoutId id="2147483951" r:id="rId7"/>
    <p:sldLayoutId id="2147483952" r:id="rId8"/>
    <p:sldLayoutId id="2147483953" r:id="rId9"/>
    <p:sldLayoutId id="2147483954" r:id="rId10"/>
    <p:sldLayoutId id="2147483955" r:id="rId11"/>
    <p:sldLayoutId id="2147483956" r:id="rId12"/>
    <p:sldLayoutId id="2147483957" r:id="rId13"/>
    <p:sldLayoutId id="2147483958" r:id="rId14"/>
    <p:sldLayoutId id="2147483959" r:id="rId15"/>
    <p:sldLayoutId id="2147483960" r:id="rId16"/>
    <p:sldLayoutId id="2147483961" r:id="rId17"/>
    <p:sldLayoutId id="2147483962" r:id="rId18"/>
    <p:sldLayoutId id="2147483963" r:id="rId19"/>
    <p:sldLayoutId id="2147483964" r:id="rId20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200" userDrawn="1">
          <p15:clr>
            <a:srgbClr val="F26B43"/>
          </p15:clr>
        </p15:guide>
        <p15:guide id="4" pos="6720" userDrawn="1">
          <p15:clr>
            <a:srgbClr val="F26B43"/>
          </p15:clr>
        </p15:guide>
        <p15:guide id="16" pos="480" userDrawn="1">
          <p15:clr>
            <a:srgbClr val="F26B43"/>
          </p15:clr>
        </p15:guide>
        <p15:guide id="23" orient="horz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9253" y="2143838"/>
            <a:ext cx="8686801" cy="2565902"/>
          </a:xfrm>
        </p:spPr>
        <p:txBody>
          <a:bodyPr>
            <a:normAutofit/>
          </a:bodyPr>
          <a:lstStyle/>
          <a:p>
            <a:r>
              <a:rPr lang="en-US"/>
              <a:t>Gulfstream: AI 3d Model Generation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73454" y="4704997"/>
            <a:ext cx="10136899" cy="55945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Hamza Salahuddin, Llicel Lopez, Gustavo Lopez, Ryan Chapman &amp; Caleb Kenney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6164A00-4D5A-AD18-5342-B541BB1DA33A}"/>
              </a:ext>
            </a:extLst>
          </p:cNvPr>
          <p:cNvSpPr txBox="1">
            <a:spLocks/>
          </p:cNvSpPr>
          <p:nvPr/>
        </p:nvSpPr>
        <p:spPr>
          <a:xfrm>
            <a:off x="1348399" y="2017215"/>
            <a:ext cx="10136899" cy="55945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Computer Science Capstone</a:t>
            </a:r>
          </a:p>
        </p:txBody>
      </p:sp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D8A79-A964-17F1-B645-68F7E4226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0C654-3C8B-8469-458F-B67301914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479718"/>
            <a:ext cx="9238434" cy="857559"/>
          </a:xfrm>
        </p:spPr>
        <p:txBody>
          <a:bodyPr/>
          <a:lstStyle/>
          <a:p>
            <a:r>
              <a:rPr lang="en-US"/>
              <a:t>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560D6-CFAC-CE2C-A357-45A083066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1521490"/>
            <a:ext cx="10022520" cy="49695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Wingdings" panose="020B0604020202020204" pitchFamily="34" charset="0"/>
              <a:buChar char="q"/>
            </a:pPr>
            <a:r>
              <a:rPr lang="en-US" b="1">
                <a:ea typeface="+mn-lt"/>
                <a:cs typeface="+mn-lt"/>
              </a:rPr>
              <a:t>Gulfstream is widely regarded as a </a:t>
            </a:r>
            <a:r>
              <a:rPr lang="en-US" b="1" u="sng">
                <a:ea typeface="+mn-lt"/>
                <a:cs typeface="+mn-lt"/>
              </a:rPr>
              <a:t>leader</a:t>
            </a:r>
            <a:r>
              <a:rPr lang="en-US" b="1">
                <a:ea typeface="+mn-lt"/>
                <a:cs typeface="+mn-lt"/>
              </a:rPr>
              <a:t> in the business aviation industry. The company is very well known for selling business (private) jets to clients.</a:t>
            </a:r>
            <a:endParaRPr lang="en-US" b="1"/>
          </a:p>
          <a:p>
            <a:pPr marL="285750" indent="-285750">
              <a:buFont typeface="Wingdings" panose="020B0604020202020204" pitchFamily="34" charset="0"/>
              <a:buChar char="q"/>
            </a:pPr>
            <a:endParaRPr lang="en-US" b="1"/>
          </a:p>
          <a:p>
            <a:pPr>
              <a:buFont typeface="Wingdings" panose="020B0604020202020204" pitchFamily="34" charset="0"/>
              <a:buChar char="q"/>
            </a:pPr>
            <a:r>
              <a:rPr lang="en-US" b="1"/>
              <a:t>Their product lineup consists almost entirely of luxury business jets (e.g., G400, G700), which are specifically built for private travel and customized interiors. </a:t>
            </a:r>
          </a:p>
          <a:p>
            <a:pPr marL="285750" indent="-285750">
              <a:buFont typeface="Wingdings" panose="020B0604020202020204" pitchFamily="34" charset="0"/>
              <a:buChar char="q"/>
            </a:pPr>
            <a:endParaRPr lang="en-US" b="1"/>
          </a:p>
          <a:p>
            <a:pPr marL="285750" indent="-285750">
              <a:buFont typeface="Wingdings" panose="020B0604020202020204" pitchFamily="34" charset="0"/>
              <a:buChar char="q"/>
            </a:pPr>
            <a:r>
              <a:rPr lang="en-US" b="1"/>
              <a:t>Currently, Gulfstream's designers rely on traditional 3D modeling workflows when performing interior design tailored to client specifications.</a:t>
            </a:r>
          </a:p>
          <a:p>
            <a:pPr marL="0" indent="0">
              <a:buNone/>
            </a:pPr>
            <a:endParaRPr lang="en-US" sz="2000" b="1"/>
          </a:p>
          <a:p>
            <a:pPr marL="0" indent="0">
              <a:buNone/>
            </a:pPr>
            <a:endParaRPr lang="en-US" sz="2000" b="1"/>
          </a:p>
          <a:p>
            <a:pPr marL="525780" lvl="2" indent="-342900">
              <a:buAutoNum type="arabicPeriod"/>
            </a:pPr>
            <a:endParaRPr lang="en-US" sz="1600" b="1"/>
          </a:p>
          <a:p>
            <a:pPr marL="525780" lvl="2" indent="-342900">
              <a:buAutoNum type="arabicPeriod"/>
            </a:pPr>
            <a:endParaRPr lang="en-US" sz="1600" b="1"/>
          </a:p>
          <a:p>
            <a:pPr marL="182880" lvl="2" indent="0">
              <a:buNone/>
            </a:pPr>
            <a:endParaRPr lang="en-US" sz="1800" b="1"/>
          </a:p>
        </p:txBody>
      </p:sp>
      <p:pic>
        <p:nvPicPr>
          <p:cNvPr id="4" name="Picture 3" descr="A blue airplane with a black background&#10;&#10;AI-generated content may be incorrect.">
            <a:extLst>
              <a:ext uri="{FF2B5EF4-FFF2-40B4-BE49-F238E27FC236}">
                <a16:creationId xmlns:a16="http://schemas.microsoft.com/office/drawing/2014/main" id="{5A45A72B-98AD-884C-7100-C211DFE99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364" y="3809999"/>
            <a:ext cx="5345546" cy="391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44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3FF9A-7439-B813-724C-745781BB4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449097"/>
            <a:ext cx="9238434" cy="857559"/>
          </a:xfrm>
        </p:spPr>
        <p:txBody>
          <a:bodyPr/>
          <a:lstStyle/>
          <a:p>
            <a:r>
              <a:rPr lang="en-US"/>
              <a:t>Gulfstream's Workflow</a:t>
            </a:r>
          </a:p>
        </p:txBody>
      </p:sp>
      <p:pic>
        <p:nvPicPr>
          <p:cNvPr id="7" name="Content Placeholder 6" descr="A diagram of a sales process&#10;&#10;AI-generated content may be incorrect.">
            <a:extLst>
              <a:ext uri="{FF2B5EF4-FFF2-40B4-BE49-F238E27FC236}">
                <a16:creationId xmlns:a16="http://schemas.microsoft.com/office/drawing/2014/main" id="{0F640249-66B3-2AC4-A2A5-EF09A90C43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4557" y="1431929"/>
            <a:ext cx="9237409" cy="50101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BAB6F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2E798-95DD-7C19-6C1F-2D07B9157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5AC62-173E-4CF2-8910-70F0EC7BDE1B}" type="datetime1"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E49FF-40CA-0EA7-0120-7A7AD5DEF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94FDB-51D6-08A9-B86F-9A58B1398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529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0843A-AC03-3DBB-39A0-BBCC961FE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592662"/>
            <a:ext cx="9238434" cy="857559"/>
          </a:xfrm>
        </p:spPr>
        <p:txBody>
          <a:bodyPr/>
          <a:lstStyle/>
          <a:p>
            <a:r>
              <a:rPr lang="en-US"/>
              <a:t>The Problem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BB50644-F963-295F-E5E2-B907C76CE3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6065620"/>
              </p:ext>
            </p:extLst>
          </p:nvPr>
        </p:nvGraphicFramePr>
        <p:xfrm>
          <a:off x="1430338" y="1789043"/>
          <a:ext cx="9883734" cy="39263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94578">
                  <a:extLst>
                    <a:ext uri="{9D8B030D-6E8A-4147-A177-3AD203B41FA5}">
                      <a16:colId xmlns:a16="http://schemas.microsoft.com/office/drawing/2014/main" val="4277888364"/>
                    </a:ext>
                  </a:extLst>
                </a:gridCol>
                <a:gridCol w="3294578">
                  <a:extLst>
                    <a:ext uri="{9D8B030D-6E8A-4147-A177-3AD203B41FA5}">
                      <a16:colId xmlns:a16="http://schemas.microsoft.com/office/drawing/2014/main" val="4052520261"/>
                    </a:ext>
                  </a:extLst>
                </a:gridCol>
                <a:gridCol w="3294578">
                  <a:extLst>
                    <a:ext uri="{9D8B030D-6E8A-4147-A177-3AD203B41FA5}">
                      <a16:colId xmlns:a16="http://schemas.microsoft.com/office/drawing/2014/main" val="1294073286"/>
                    </a:ext>
                  </a:extLst>
                </a:gridCol>
              </a:tblGrid>
              <a:tr h="882127">
                <a:tc>
                  <a:txBody>
                    <a:bodyPr/>
                    <a:lstStyle/>
                    <a:p>
                      <a:pPr algn="ctr"/>
                      <a:r>
                        <a:rPr lang="en-US" sz="4000" b="1"/>
                        <a:t>Time</a:t>
                      </a:r>
                    </a:p>
                  </a:txBody>
                  <a:tcPr>
                    <a:solidFill>
                      <a:srgbClr val="BAB6F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4000" b="1" i="0" u="none" strike="noStrike" noProof="0">
                          <a:solidFill>
                            <a:srgbClr val="FFFFFF"/>
                          </a:solidFill>
                          <a:latin typeface="Trade Gothic Next Light"/>
                        </a:rPr>
                        <a:t>Labor</a:t>
                      </a:r>
                    </a:p>
                  </a:txBody>
                  <a:tcPr>
                    <a:solidFill>
                      <a:srgbClr val="BAB6F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4000" b="1" i="0" u="none" strike="noStrike" noProof="0">
                          <a:solidFill>
                            <a:srgbClr val="FFFFFF"/>
                          </a:solidFill>
                          <a:latin typeface="Trade Gothic Next Light"/>
                        </a:rPr>
                        <a:t>Service</a:t>
                      </a:r>
                    </a:p>
                  </a:txBody>
                  <a:tcPr>
                    <a:solidFill>
                      <a:srgbClr val="BAB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865298"/>
                  </a:ext>
                </a:extLst>
              </a:tr>
              <a:tr h="3044206"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b="1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Utilizing traditional 3D software is time-consuming.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endParaRPr lang="en-US" b="1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b="1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Basic 3D objects can take up to a full day to model and render. 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endParaRPr lang="en-US" b="1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b="1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Complex configurations often require weeks to months to fully develop.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Clr>
                          <a:srgbClr val="FFFFFF"/>
                        </a:buClr>
                        <a:buFont typeface="Arial"/>
                        <a:buChar char="•"/>
                      </a:pPr>
                      <a:r>
                        <a:rPr lang="en-US" sz="1800" b="1" i="0" u="none" strike="noStrike" noProof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Trade Gothic Next Light"/>
                        </a:rPr>
                        <a:t>Utilizing traditional 3D software is labor-intensive.</a:t>
                      </a:r>
                      <a:endParaRPr lang="en-US" sz="1800" b="0" i="0" u="none" strike="noStrike" noProof="0">
                        <a:solidFill>
                          <a:srgbClr val="FFFFFF"/>
                        </a:solidFill>
                        <a:latin typeface="Trade Gothic Next Light"/>
                      </a:endParaRPr>
                    </a:p>
                    <a:p>
                      <a:pPr marL="285750" lvl="0" indent="-285750">
                        <a:buClr>
                          <a:srgbClr val="FFFFFF"/>
                        </a:buClr>
                        <a:buFont typeface="Arial"/>
                        <a:buChar char="•"/>
                      </a:pPr>
                      <a:endParaRPr lang="en-US" sz="1800" b="1" i="0" u="none" strike="noStrike" noProof="0">
                        <a:solidFill>
                          <a:schemeClr val="bg2">
                            <a:lumMod val="25000"/>
                          </a:schemeClr>
                        </a:solidFill>
                        <a:latin typeface="Trade Gothic Next Light"/>
                      </a:endParaRP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1" i="0" u="none" strike="noStrike" baseline="0" noProof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Trade Gothic Next Light"/>
                        </a:rPr>
                        <a:t>Designers repeatedly remodel, refine, and compare results to optimize quality. Each iteration requires manual intervention and re-rendering, creating a slow workflow. </a:t>
                      </a:r>
                      <a:endParaRPr lang="en-US" b="1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1" i="0" u="none" strike="noStrike" baseline="0" noProof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Trade Gothic Next Light"/>
                        </a:rPr>
                        <a:t>Clients seeking custom interiors face long iterative cycles, which delays decision-making and reduces engagement.</a:t>
                      </a:r>
                      <a:endParaRPr lang="en-US" sz="1800" b="1" i="0" u="none" strike="noStrike" baseline="0" noProof="0" dirty="0">
                        <a:solidFill>
                          <a:schemeClr val="bg2">
                            <a:lumMod val="25000"/>
                          </a:schemeClr>
                        </a:solidFill>
                        <a:latin typeface="Trade Gothic Next Light"/>
                      </a:endParaRP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endParaRPr lang="en-US" sz="1800" b="1" i="0" u="none" strike="noStrike" baseline="0" noProof="0">
                        <a:solidFill>
                          <a:schemeClr val="bg2">
                            <a:lumMod val="25000"/>
                          </a:schemeClr>
                        </a:solidFill>
                        <a:latin typeface="Trade Gothic Next Light"/>
                      </a:endParaRP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02297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0427A-94DF-21D4-1048-70DE2EF9E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756D-F694-4D7F-9E76-F9A07589A73C}" type="datetime1"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0CF6D-4957-06BB-3894-B3C53BB7B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3691B-28E0-070D-6CD0-670DABEAA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31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21DC6-172F-2ABB-D26E-CAE99F2F2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FECCB-27C5-495C-ECAB-4D4CB8A09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Solution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8EE5F5F2-22E9-F371-1015-A976D054E83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4482" r="4482"/>
          <a:stretch/>
        </p:blipFill>
        <p:spPr>
          <a:custGeom>
            <a:avLst/>
            <a:gdLst>
              <a:gd name="connsiteX0" fmla="*/ 2585482 w 5170964"/>
              <a:gd name="connsiteY0" fmla="*/ 0 h 5170964"/>
              <a:gd name="connsiteX1" fmla="*/ 5170964 w 5170964"/>
              <a:gd name="connsiteY1" fmla="*/ 2585482 h 5170964"/>
              <a:gd name="connsiteX2" fmla="*/ 2585482 w 5170964"/>
              <a:gd name="connsiteY2" fmla="*/ 5170964 h 5170964"/>
              <a:gd name="connsiteX3" fmla="*/ 0 w 5170964"/>
              <a:gd name="connsiteY3" fmla="*/ 2585482 h 5170964"/>
              <a:gd name="connsiteX4" fmla="*/ 2585482 w 5170964"/>
              <a:gd name="connsiteY4" fmla="*/ 0 h 517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0964" h="5170964">
                <a:moveTo>
                  <a:pt x="2585482" y="0"/>
                </a:moveTo>
                <a:cubicBezTo>
                  <a:pt x="4013405" y="0"/>
                  <a:pt x="5170964" y="1157560"/>
                  <a:pt x="5170964" y="2585482"/>
                </a:cubicBezTo>
                <a:cubicBezTo>
                  <a:pt x="5170964" y="4013405"/>
                  <a:pt x="4013405" y="5170964"/>
                  <a:pt x="2585482" y="5170964"/>
                </a:cubicBezTo>
                <a:cubicBezTo>
                  <a:pt x="1157560" y="5170964"/>
                  <a:pt x="0" y="4013405"/>
                  <a:pt x="0" y="2585482"/>
                </a:cubicBezTo>
                <a:cubicBezTo>
                  <a:pt x="0" y="1157560"/>
                  <a:pt x="1157560" y="0"/>
                  <a:pt x="2585482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28BCC-DCD8-9C27-5AD0-1AA239F2A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F756D-F694-4D7F-9E76-F9A07589A73C}" type="datetime1"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D9E3E-93E4-BF29-FF69-58EA61297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01C8D-D3C1-C975-40FA-5A3C38D9A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5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3636EF-F08D-DCF0-DAAC-61690367DEE5}"/>
              </a:ext>
            </a:extLst>
          </p:cNvPr>
          <p:cNvSpPr txBox="1"/>
          <p:nvPr/>
        </p:nvSpPr>
        <p:spPr>
          <a:xfrm>
            <a:off x="607390" y="1722782"/>
            <a:ext cx="4599608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q"/>
            </a:pPr>
            <a:r>
              <a:rPr lang="en-US" b="1">
                <a:ea typeface="+mn-lt"/>
                <a:cs typeface="+mn-lt"/>
              </a:rPr>
              <a:t>According to Render Edge Studio, AI-enhanced workflows can reduce rough draft render times from 4–12 hours to as little as 15–90 seconds—representing a 95–99% reduction in rendering time.</a:t>
            </a:r>
            <a:endParaRPr lang="en-US"/>
          </a:p>
          <a:p>
            <a:pPr marL="285750" indent="-285750">
              <a:buFont typeface="Wingdings"/>
              <a:buChar char="q"/>
            </a:pPr>
            <a:endParaRPr lang="en-US" b="1"/>
          </a:p>
          <a:p>
            <a:pPr marL="285750" indent="-285750">
              <a:buFont typeface="Wingdings"/>
              <a:buChar char="q"/>
            </a:pPr>
            <a:r>
              <a:rPr lang="en-US" b="1"/>
              <a:t>The proposed application is an interactive, AI-powered 3D modeling tool.</a:t>
            </a:r>
          </a:p>
          <a:p>
            <a:pPr marL="285750" indent="-285750">
              <a:buFont typeface="Wingdings"/>
              <a:buChar char="q"/>
            </a:pPr>
            <a:endParaRPr lang="en-US" b="1"/>
          </a:p>
          <a:p>
            <a:pPr marL="285750" indent="-285750">
              <a:buFont typeface="Wingdings"/>
              <a:buChar char="q"/>
            </a:pPr>
            <a:endParaRPr lang="en-US" b="1"/>
          </a:p>
          <a:p>
            <a:pPr marL="285750" indent="-285750">
              <a:buFont typeface="Wingdings"/>
              <a:buChar char="q"/>
            </a:pPr>
            <a:r>
              <a:rPr lang="en-US" b="1"/>
              <a:t>Users can describe objects and design layouts in natural language or upload reference images, and the system will generate editable, textured 3D models.</a:t>
            </a:r>
          </a:p>
          <a:p>
            <a:pPr marL="285750" indent="-285750">
              <a:buFont typeface="Wingdings"/>
              <a:buChar char="q"/>
            </a:pPr>
            <a:endParaRPr lang="en-US" b="1"/>
          </a:p>
          <a:p>
            <a:pPr marL="285750" indent="-285750">
              <a:buFont typeface="Wingdings"/>
              <a:buChar char="q"/>
            </a:pPr>
            <a:endParaRPr lang="en-US" b="1"/>
          </a:p>
          <a:p>
            <a:pPr marL="285750" indent="-285750">
              <a:buFont typeface="Wingdings"/>
              <a:buChar char="q"/>
            </a:pPr>
            <a:endParaRPr lang="en-US" b="1"/>
          </a:p>
          <a:p>
            <a:pPr marL="285750" indent="-285750">
              <a:buFont typeface="Wingdings"/>
              <a:buChar char="q"/>
            </a:pPr>
            <a:endParaRPr lang="en-US" b="1"/>
          </a:p>
          <a:p>
            <a:pPr marL="285750" indent="-285750">
              <a:buFont typeface="Wingdings"/>
              <a:buChar char="q"/>
            </a:pPr>
            <a:endParaRPr lang="en-US" b="1"/>
          </a:p>
          <a:p>
            <a:pPr marL="285750" indent="-285750">
              <a:buFont typeface="Wingdings"/>
              <a:buChar char="q"/>
            </a:pPr>
            <a:endParaRPr lang="en-US" b="1"/>
          </a:p>
          <a:p>
            <a:pPr marL="285750" indent="-285750">
              <a:buFont typeface="Wingdings"/>
              <a:buChar char="q"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010252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0125" y="990600"/>
            <a:ext cx="9145588" cy="3630613"/>
          </a:xfrm>
        </p:spPr>
        <p:txBody>
          <a:bodyPr anchor="b"/>
          <a:lstStyle/>
          <a:p>
            <a:r>
              <a:rPr lang="en-US">
                <a:solidFill>
                  <a:schemeClr val="tx1"/>
                </a:solidFill>
              </a:rPr>
              <a:t>Key Features</a:t>
            </a:r>
          </a:p>
        </p:txBody>
      </p: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76E2C-040E-4D92-F9F7-F61C47F4F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31" y="-85352"/>
            <a:ext cx="11011747" cy="1507672"/>
          </a:xfrm>
        </p:spPr>
        <p:txBody>
          <a:bodyPr/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Dual 3D generation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E18F-CF72-C06C-3020-B9FA4DEAB729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D3666E5-8C46-862C-DF6C-7DD3E933C9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797208"/>
              </p:ext>
            </p:extLst>
          </p:nvPr>
        </p:nvGraphicFramePr>
        <p:xfrm>
          <a:off x="1181652" y="1888434"/>
          <a:ext cx="4308901" cy="438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08901">
                  <a:extLst>
                    <a:ext uri="{9D8B030D-6E8A-4147-A177-3AD203B41FA5}">
                      <a16:colId xmlns:a16="http://schemas.microsoft.com/office/drawing/2014/main" val="4030452174"/>
                    </a:ext>
                  </a:extLst>
                </a:gridCol>
              </a:tblGrid>
              <a:tr h="90571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4000" b="1" i="0" u="none" strike="noStrike" noProof="0">
                          <a:solidFill>
                            <a:srgbClr val="FFFFFF"/>
                          </a:solidFill>
                          <a:latin typeface="Trade Gothic Next Light"/>
                        </a:rPr>
                        <a:t>             Local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2000" b="1" i="0" u="none" strike="noStrike" noProof="0">
                          <a:solidFill>
                            <a:srgbClr val="FFFFFF"/>
                          </a:solidFill>
                          <a:latin typeface="Trade Gothic Next Light"/>
                        </a:rPr>
                        <a:t>Hardware-Dependent</a:t>
                      </a:r>
                    </a:p>
                  </a:txBody>
                  <a:tcPr>
                    <a:solidFill>
                      <a:srgbClr val="BAB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74736"/>
                  </a:ext>
                </a:extLst>
              </a:tr>
              <a:tr h="3169986"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buFont typeface="Arial"/>
                        <a:buChar char="•"/>
                      </a:pPr>
                      <a:r>
                        <a:rPr lang="en-US" b="1"/>
                        <a:t>Trellis (Text/Image → 3D Model)</a:t>
                      </a:r>
                      <a:endParaRPr lang="en-U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buFont typeface="Arial"/>
                        <a:buChar char="•"/>
                      </a:pPr>
                      <a:endParaRPr lang="en-US" b="1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buFont typeface="Arial"/>
                        <a:buChar char="•"/>
                      </a:pPr>
                      <a:r>
                        <a:rPr lang="en-US" sz="1800" b="1" i="0" u="none" strike="noStrike" baseline="0" noProof="0">
                          <a:solidFill>
                            <a:srgbClr val="000000"/>
                          </a:solidFill>
                          <a:latin typeface="Trade Gothic Next Light"/>
                        </a:rPr>
                        <a:t>Z-images enhancement pipeline (sub-step): </a:t>
                      </a:r>
                      <a:r>
                        <a:rPr lang="en-US" sz="1800" b="1" i="0" u="none" strike="noStrike" baseline="0" noProof="0">
                          <a:solidFill>
                            <a:srgbClr val="000000"/>
                          </a:solidFill>
                        </a:rPr>
                        <a:t>Enhances important visual details in generated images before final 3D reconstruction, helping create smoother surfaces, cleaner object shapes, and more stable 3D models.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buFont typeface="Arial"/>
                        <a:buChar char="•"/>
                      </a:pPr>
                      <a:endParaRPr lang="en-US" sz="1800" b="1" i="0" u="none" strike="noStrike" baseline="0" noProof="0">
                        <a:solidFill>
                          <a:srgbClr val="000000"/>
                        </a:solidFill>
                        <a:latin typeface="Trade Gothic Next Light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buFont typeface="Arial"/>
                        <a:buChar char="•"/>
                      </a:pPr>
                      <a:r>
                        <a:rPr lang="en-US" sz="1800" b="1" i="0" u="none" strike="noStrike" baseline="0" noProof="0" err="1">
                          <a:solidFill>
                            <a:srgbClr val="000000"/>
                          </a:solidFill>
                          <a:latin typeface="Trade Gothic Next Light"/>
                        </a:rPr>
                        <a:t>TripoSR</a:t>
                      </a:r>
                      <a:r>
                        <a:rPr lang="en-US" sz="1800" b="1" i="0" u="none" strike="noStrike" baseline="0" noProof="0">
                          <a:solidFill>
                            <a:srgbClr val="000000"/>
                          </a:solidFill>
                          <a:latin typeface="Trade Gothic Next Light"/>
                        </a:rPr>
                        <a:t> (Image → 3D Model)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endParaRPr lang="en-US" b="1"/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endParaRPr lang="en-US" b="1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37163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E9DD472-8C8E-2053-5B6B-B5AF723E6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14096"/>
              </p:ext>
            </p:extLst>
          </p:nvPr>
        </p:nvGraphicFramePr>
        <p:xfrm>
          <a:off x="6681303" y="1888434"/>
          <a:ext cx="4524251" cy="44560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24251">
                  <a:extLst>
                    <a:ext uri="{9D8B030D-6E8A-4147-A177-3AD203B41FA5}">
                      <a16:colId xmlns:a16="http://schemas.microsoft.com/office/drawing/2014/main" val="4030452174"/>
                    </a:ext>
                  </a:extLst>
                </a:gridCol>
              </a:tblGrid>
              <a:tr h="107728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4000" b="1" i="0" u="none" strike="noStrike" noProof="0">
                          <a:solidFill>
                            <a:srgbClr val="FFFFFF"/>
                          </a:solidFill>
                          <a:latin typeface="Trade Gothic Next Light"/>
                        </a:rPr>
                        <a:t>       Cloud (New)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2000" b="1" i="0" u="none" strike="noStrike" noProof="0">
                          <a:solidFill>
                            <a:srgbClr val="FFFFFF"/>
                          </a:solidFill>
                          <a:latin typeface="Trade Gothic Next Light"/>
                        </a:rPr>
                        <a:t>  Hardware-Independent</a:t>
                      </a:r>
                    </a:p>
                  </a:txBody>
                  <a:tcPr>
                    <a:solidFill>
                      <a:srgbClr val="BAB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74736"/>
                  </a:ext>
                </a:extLst>
              </a:tr>
              <a:tr h="3378757"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buFont typeface="Arial"/>
                        <a:buChar char="•"/>
                      </a:pPr>
                      <a:r>
                        <a:rPr lang="en-US" sz="1800" b="1" i="0" u="none" strike="noStrike" baseline="0" noProof="0" err="1">
                          <a:solidFill>
                            <a:srgbClr val="000000"/>
                          </a:solidFill>
                          <a:latin typeface="Trade Gothic Next Light"/>
                        </a:rPr>
                        <a:t>ModelsLab</a:t>
                      </a:r>
                      <a:r>
                        <a:rPr lang="en-US" sz="1800" b="1" i="0" u="none" strike="noStrike" baseline="0" noProof="0">
                          <a:solidFill>
                            <a:srgbClr val="000000"/>
                          </a:solidFill>
                          <a:latin typeface="Trade Gothic Next Light"/>
                        </a:rPr>
                        <a:t> (Text/Image → 3D Model): A fully managed "AI as a Service" platform that provides cheap, fast, high-quality 3D asset generation.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buFont typeface="Arial"/>
                        <a:buChar char="•"/>
                      </a:pPr>
                      <a:endParaRPr lang="en-US" sz="1800" b="1" i="0" u="none" strike="noStrike" baseline="0" noProof="0">
                        <a:solidFill>
                          <a:srgbClr val="000000"/>
                        </a:solidFill>
                        <a:latin typeface="Trade Gothic Next Light"/>
                      </a:endParaRP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buFont typeface="Arial"/>
                        <a:buChar char="•"/>
                      </a:pPr>
                      <a:r>
                        <a:rPr lang="en-US" sz="1800" b="1" i="0" u="none" strike="noStrike" baseline="0" noProof="0">
                          <a:solidFill>
                            <a:srgbClr val="000000"/>
                          </a:solidFill>
                          <a:latin typeface="Trade Gothic Next Light"/>
                        </a:rPr>
                        <a:t>GPU and other compute resources are handled virtually. 3D generation tasks are executed via API calls.</a:t>
                      </a:r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buFont typeface="Arial"/>
                        <a:buChar char="•"/>
                      </a:pPr>
                      <a:endParaRPr lang="en-US" sz="1800" b="1" i="0" u="none" strike="noStrike" baseline="0" noProof="0">
                        <a:solidFill>
                          <a:srgbClr val="000000"/>
                        </a:solidFill>
                        <a:latin typeface="Trade Gothic Next Light"/>
                      </a:endParaRPr>
                    </a:p>
                    <a:p>
                      <a:pPr lvl="0">
                        <a:buNone/>
                      </a:pPr>
                      <a:br>
                        <a:rPr lang="en-US"/>
                      </a:br>
                      <a:endParaRPr 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3716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6553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69C6DE-06F8-CEA5-2F91-2E7A9217D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F54B9-5F77-B6EF-1211-54A9929EC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074" y="2996"/>
            <a:ext cx="11011747" cy="1507672"/>
          </a:xfrm>
        </p:spPr>
        <p:txBody>
          <a:bodyPr/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AI-Enhanced object Descriptions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6B3DA-9B74-6A83-C82F-E3B406B18003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009F03-35B5-059C-9369-A162146B27A9}"/>
              </a:ext>
            </a:extLst>
          </p:cNvPr>
          <p:cNvSpPr txBox="1"/>
          <p:nvPr/>
        </p:nvSpPr>
        <p:spPr>
          <a:xfrm>
            <a:off x="817217" y="1849784"/>
            <a:ext cx="4494697" cy="41528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>
              <a:lnSpc>
                <a:spcPct val="150000"/>
              </a:lnSpc>
              <a:buFont typeface=""/>
              <a:buChar char="•"/>
            </a:pPr>
            <a:r>
              <a:rPr lang="en-US" sz="2000">
                <a:solidFill>
                  <a:schemeClr val="bg1"/>
                </a:solidFill>
              </a:rPr>
              <a:t> Users can type a description of the 3D asset they want to generate.</a:t>
            </a:r>
          </a:p>
          <a:p>
            <a:pPr marL="228600">
              <a:lnSpc>
                <a:spcPct val="150000"/>
              </a:lnSpc>
              <a:buFont typeface=""/>
              <a:buChar char="•"/>
            </a:pPr>
            <a:endParaRPr lang="en-US" sz="2000">
              <a:solidFill>
                <a:schemeClr val="bg1"/>
              </a:solidFill>
            </a:endParaRPr>
          </a:p>
          <a:p>
            <a:pPr marL="228600">
              <a:lnSpc>
                <a:spcPct val="150000"/>
              </a:lnSpc>
              <a:buFont typeface=""/>
              <a:buChar char="•"/>
            </a:pPr>
            <a:r>
              <a:rPr lang="en-US" sz="2000">
                <a:solidFill>
                  <a:schemeClr val="bg1"/>
                </a:solidFill>
              </a:rPr>
              <a:t> (New): An OpenAI-powered agent can transform text prompts into structured, technically detailed 3D asset specification, fine-tuned for realism. </a:t>
            </a:r>
            <a:endParaRPr lang="en-US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US"/>
          </a:p>
        </p:txBody>
      </p:sp>
      <p:pic>
        <p:nvPicPr>
          <p:cNvPr id="8" name="Picture 7" descr="A screenshot of a phone&#10;&#10;AI-generated content may be incorrect.">
            <a:extLst>
              <a:ext uri="{FF2B5EF4-FFF2-40B4-BE49-F238E27FC236}">
                <a16:creationId xmlns:a16="http://schemas.microsoft.com/office/drawing/2014/main" id="{D39531DA-E6B2-FA1F-A5A8-B99B4A88E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789" y="1970822"/>
            <a:ext cx="6371596" cy="350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949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1CC98-707D-0949-9CC3-CA0BC3910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30519-2B2D-7FDB-8BA5-8A3312502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161" y="2996"/>
            <a:ext cx="11011747" cy="1507672"/>
          </a:xfrm>
        </p:spPr>
        <p:txBody>
          <a:bodyPr/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Image Creation &amp; Upload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4DD7F-22E4-D5B8-FB6F-B81E85686B0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A432B3-F16A-599F-0274-FF3F8D2448F3}"/>
              </a:ext>
            </a:extLst>
          </p:cNvPr>
          <p:cNvSpPr txBox="1"/>
          <p:nvPr/>
        </p:nvSpPr>
        <p:spPr>
          <a:xfrm>
            <a:off x="905565" y="1717262"/>
            <a:ext cx="4583043" cy="35296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Font typeface=""/>
              <a:buChar char="•"/>
            </a:pPr>
            <a:r>
              <a:rPr lang="en-US" sz="1900">
                <a:solidFill>
                  <a:schemeClr val="bg1"/>
                </a:solidFill>
              </a:rPr>
              <a:t> Users can upload a reference image of the 3D asset they want to generate.</a:t>
            </a:r>
          </a:p>
          <a:p>
            <a:pPr>
              <a:lnSpc>
                <a:spcPct val="150000"/>
              </a:lnSpc>
              <a:buFont typeface=""/>
              <a:buChar char="•"/>
            </a:pPr>
            <a:endParaRPr lang="en-US" sz="19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"/>
              <a:buChar char="•"/>
            </a:pPr>
            <a:r>
              <a:rPr lang="en-US" sz="1900">
                <a:solidFill>
                  <a:schemeClr val="bg1"/>
                </a:solidFill>
              </a:rPr>
              <a:t> (New): An OpenAI-powered agent can interpret text prompts and transforms them into highly detailed images for 3D model construction.</a:t>
            </a:r>
          </a:p>
          <a:p>
            <a:pPr algn="ctr">
              <a:lnSpc>
                <a:spcPct val="150000"/>
              </a:lnSpc>
            </a:pPr>
            <a:endParaRPr lang="en-US">
              <a:solidFill>
                <a:schemeClr val="bg1"/>
              </a:solidFill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14F303-48B6-4439-3917-4FFDCCB5A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6950" y="1712843"/>
            <a:ext cx="5323232" cy="491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820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1ADB70-6979-F4D4-6785-D6205945F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2D4A5-0539-A2BA-6DFE-1C79134D3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161" y="2996"/>
            <a:ext cx="11011747" cy="1507672"/>
          </a:xfrm>
        </p:spPr>
        <p:txBody>
          <a:bodyPr/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Automated Normalization (New) 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22F44-B55B-E010-9C75-93FD66390F63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109107-3786-8F9C-542A-3EE3497DFD8E}"/>
              </a:ext>
            </a:extLst>
          </p:cNvPr>
          <p:cNvSpPr txBox="1"/>
          <p:nvPr/>
        </p:nvSpPr>
        <p:spPr>
          <a:xfrm>
            <a:off x="585304" y="1717262"/>
            <a:ext cx="5333998" cy="78000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Font typeface="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Generated meshes are automatically processed using Blender (an open-source 3D software) </a:t>
            </a:r>
            <a:r>
              <a:rPr lang="en-US">
                <a:solidFill>
                  <a:schemeClr val="bg1"/>
                </a:solidFill>
              </a:rPr>
              <a:t>scripts</a:t>
            </a:r>
            <a:r>
              <a:rPr lang="en-US" dirty="0">
                <a:solidFill>
                  <a:schemeClr val="bg1"/>
                </a:solidFill>
              </a:rPr>
              <a:t>, where transformations such as scaling, orientation, and origin alignment are applied consistently with Unreal Engine standards.</a:t>
            </a:r>
          </a:p>
          <a:p>
            <a:pPr lvl="1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solidFill>
                  <a:schemeClr val="bg1"/>
                </a:solidFill>
              </a:rPr>
              <a:t> Pivot-centered </a:t>
            </a:r>
            <a:r>
              <a:rPr lang="en-US">
                <a:solidFill>
                  <a:schemeClr val="bg1"/>
                </a:solidFill>
              </a:rPr>
              <a:t>alignment</a:t>
            </a:r>
            <a:endParaRPr lang="en-US" dirty="0">
              <a:solidFill>
                <a:schemeClr val="bg1"/>
              </a:solidFill>
            </a:endParaRPr>
          </a:p>
          <a:p>
            <a:pPr lvl="1">
              <a:lnSpc>
                <a:spcPct val="150000"/>
              </a:lnSpc>
              <a:buFont typeface="Courier New"/>
              <a:buChar char="o"/>
            </a:pPr>
            <a:r>
              <a:rPr lang="en-US">
                <a:solidFill>
                  <a:schemeClr val="bg1"/>
                </a:solidFill>
              </a:rPr>
              <a:t> Grounded base positioning</a:t>
            </a:r>
            <a:endParaRPr lang="en-US" dirty="0">
              <a:solidFill>
                <a:schemeClr val="bg1"/>
              </a:solidFill>
            </a:endParaRPr>
          </a:p>
          <a:p>
            <a:pPr lvl="1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solidFill>
                  <a:schemeClr val="bg1"/>
                </a:solidFill>
              </a:rPr>
              <a:t> </a:t>
            </a:r>
            <a:r>
              <a:rPr lang="en-US">
                <a:solidFill>
                  <a:schemeClr val="bg1"/>
                </a:solidFill>
              </a:rPr>
              <a:t>Standardized axis orientation (Z-up)</a:t>
            </a:r>
            <a:endParaRPr lang="en-US" dirty="0">
              <a:solidFill>
                <a:schemeClr val="bg1"/>
              </a:solidFill>
            </a:endParaRPr>
          </a:p>
          <a:p>
            <a:pPr lvl="1">
              <a:lnSpc>
                <a:spcPct val="150000"/>
              </a:lnSpc>
            </a:pP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50000"/>
              </a:lnSpc>
              <a:buFont typeface="Courier New"/>
              <a:buChar char="o"/>
            </a:pPr>
            <a:endParaRPr lang="en-US" sz="1600" dirty="0">
              <a:solidFill>
                <a:srgbClr val="FFFFFF"/>
              </a:solidFill>
            </a:endParaRPr>
          </a:p>
          <a:p>
            <a:pPr lvl="1">
              <a:lnSpc>
                <a:spcPct val="150000"/>
              </a:lnSpc>
              <a:buFont typeface="Courier New"/>
              <a:buChar char="o"/>
            </a:pPr>
            <a:br>
              <a:rPr lang="en-US" dirty="0"/>
            </a:br>
            <a:endParaRPr lang="en-US" dirty="0"/>
          </a:p>
          <a:p>
            <a:pPr>
              <a:lnSpc>
                <a:spcPct val="150000"/>
              </a:lnSpc>
              <a:buFont typeface="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lvl="1">
              <a:lnSpc>
                <a:spcPct val="150000"/>
              </a:lnSpc>
              <a:buFont typeface="Courier New"/>
              <a:buChar char="o"/>
            </a:pP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endParaRPr lang="en-US">
              <a:solidFill>
                <a:schemeClr val="bg1"/>
              </a:solidFill>
            </a:endParaRPr>
          </a:p>
        </p:txBody>
      </p:sp>
      <p:pic>
        <p:nvPicPr>
          <p:cNvPr id="10" name="Picture 9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DCC57ED8-35E6-6E5A-064E-EC87DB69F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757" y="1778000"/>
            <a:ext cx="5870224" cy="330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766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EDAC3C-86A4-6EAE-4AB3-8DF5AEDA3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A3C2A-DC3E-4355-D204-162B63CEC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161" y="2996"/>
            <a:ext cx="11011747" cy="1507672"/>
          </a:xfrm>
        </p:spPr>
        <p:txBody>
          <a:bodyPr/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Interactive Post-Processing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6CE6F-1C04-600B-7ECD-F3410CFBA61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39EBBE-84B9-2415-D133-B8A0A008DF5A}"/>
              </a:ext>
            </a:extLst>
          </p:cNvPr>
          <p:cNvSpPr txBox="1"/>
          <p:nvPr/>
        </p:nvSpPr>
        <p:spPr>
          <a:xfrm>
            <a:off x="585304" y="1540566"/>
            <a:ext cx="5333998" cy="78923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Font typeface=""/>
              <a:buChar char="•"/>
            </a:pPr>
            <a:r>
              <a:rPr lang="en-US" dirty="0">
                <a:solidFill>
                  <a:schemeClr val="bg1"/>
                </a:solidFill>
              </a:rPr>
              <a:t> </a:t>
            </a:r>
            <a:r>
              <a:rPr lang="en-US" sz="1600" dirty="0">
                <a:solidFill>
                  <a:schemeClr val="bg1"/>
                </a:solidFill>
              </a:rPr>
              <a:t>(Updated)</a:t>
            </a:r>
            <a:r>
              <a:rPr lang="en-US" dirty="0">
                <a:solidFill>
                  <a:schemeClr val="bg1"/>
                </a:solidFill>
              </a:rPr>
              <a:t> </a:t>
            </a:r>
            <a:r>
              <a:rPr lang="en-US" sz="1600" dirty="0">
                <a:solidFill>
                  <a:schemeClr val="bg1"/>
                </a:solidFill>
              </a:rPr>
              <a:t>Mesh Inspector: A real-time 3D visualization environment with full camera controls (orbit, zoom, pan) and transform tools (scale, rotate, translate) for validating generated models. It exposes asset statistics (dimensions, vertices, </a:t>
            </a:r>
            <a:r>
              <a:rPr lang="en-US" sz="1600" dirty="0" err="1">
                <a:solidFill>
                  <a:schemeClr val="bg1"/>
                </a:solidFill>
              </a:rPr>
              <a:t>etc</a:t>
            </a:r>
            <a:r>
              <a:rPr lang="en-US" sz="1600" dirty="0">
                <a:solidFill>
                  <a:schemeClr val="bg1"/>
                </a:solidFill>
              </a:rPr>
              <a:t>), normalization status, and texture readiness.</a:t>
            </a:r>
            <a:endParaRPr lang="en-US"/>
          </a:p>
          <a:p>
            <a:pPr>
              <a:lnSpc>
                <a:spcPct val="150000"/>
              </a:lnSpc>
              <a:buFont typeface="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"/>
              <a:buChar char="•"/>
            </a:pPr>
            <a:r>
              <a:rPr lang="en-US" dirty="0">
                <a:solidFill>
                  <a:schemeClr val="bg1"/>
                </a:solidFill>
              </a:rPr>
              <a:t> (New) </a:t>
            </a:r>
            <a:r>
              <a:rPr lang="en-US" sz="1600" dirty="0">
                <a:solidFill>
                  <a:schemeClr val="bg1"/>
                </a:solidFill>
              </a:rPr>
              <a:t>Texture Baking: UI controls for adjusting key physically-based rendering (PBR) properties such as base color, roughness, and </a:t>
            </a:r>
            <a:r>
              <a:rPr lang="en-US" sz="1600" dirty="0" err="1">
                <a:solidFill>
                  <a:schemeClr val="bg1"/>
                </a:solidFill>
              </a:rPr>
              <a:t>metalness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  <a:endParaRPr lang="en-US"/>
          </a:p>
          <a:p>
            <a:pPr lvl="1">
              <a:lnSpc>
                <a:spcPct val="150000"/>
              </a:lnSpc>
              <a:buFont typeface="Courier New"/>
              <a:buChar char="o"/>
            </a:pPr>
            <a:r>
              <a:rPr lang="en-US" sz="1600">
                <a:solidFill>
                  <a:schemeClr val="bg1"/>
                </a:solidFill>
              </a:rPr>
              <a:t> Supports real-time preview of material changes on the 3D model within the viewer.</a:t>
            </a: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50000"/>
              </a:lnSpc>
              <a:buFont typeface="Courier New"/>
              <a:buChar char="o"/>
            </a:pPr>
            <a:br>
              <a:rPr lang="en-US" dirty="0"/>
            </a:br>
            <a:endParaRPr lang="en-US" dirty="0"/>
          </a:p>
          <a:p>
            <a:pPr>
              <a:lnSpc>
                <a:spcPct val="150000"/>
              </a:lnSpc>
              <a:buFont typeface="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lvl="1">
              <a:lnSpc>
                <a:spcPct val="150000"/>
              </a:lnSpc>
              <a:buFont typeface="Courier New"/>
              <a:buChar char="o"/>
            </a:pP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E4090F-C599-1817-E9AC-24BD29054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670" y="1517217"/>
            <a:ext cx="5319568" cy="494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689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1856F2-B60D-4D0E-3EF5-3912FD40A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0C2F5-4A03-C0BC-FBFF-5D112176A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161" y="2996"/>
            <a:ext cx="11011747" cy="1507672"/>
          </a:xfrm>
        </p:spPr>
        <p:txBody>
          <a:bodyPr/>
          <a:lstStyle/>
          <a:p>
            <a:pPr algn="ctr"/>
            <a:r>
              <a:rPr lang="en-US" sz="4000">
                <a:solidFill>
                  <a:schemeClr val="bg1"/>
                </a:solidFill>
              </a:rPr>
              <a:t>Unreal Engine Export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A0997-97C1-C25E-F68F-472319737F8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876401-DEDF-9564-48FD-A6A2B98261D5}"/>
              </a:ext>
            </a:extLst>
          </p:cNvPr>
          <p:cNvSpPr txBox="1"/>
          <p:nvPr/>
        </p:nvSpPr>
        <p:spPr>
          <a:xfrm>
            <a:off x="585304" y="1584740"/>
            <a:ext cx="5333998" cy="78000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sz="1600">
                <a:solidFill>
                  <a:schemeClr val="bg1"/>
                </a:solidFill>
              </a:rPr>
              <a:t> Users can export generated 3D meshes from the browser into an active Unreal Engine session.</a:t>
            </a:r>
            <a:endParaRPr lang="en-US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>
                <a:solidFill>
                  <a:schemeClr val="bg1"/>
                </a:solidFill>
              </a:rPr>
              <a:t>Handles automated mesh transfer, enabling:</a:t>
            </a:r>
          </a:p>
          <a:p>
            <a:pPr lvl="1">
              <a:lnSpc>
                <a:spcPct val="150000"/>
              </a:lnSpc>
              <a:buFont typeface="Courier New"/>
              <a:buChar char="o"/>
            </a:pPr>
            <a:r>
              <a:rPr lang="en-US" sz="1600">
                <a:solidFill>
                  <a:schemeClr val="bg1"/>
                </a:solidFill>
              </a:rPr>
              <a:t> Seamless sending of model files to Unreal</a:t>
            </a:r>
            <a:endParaRPr lang="en-US">
              <a:solidFill>
                <a:schemeClr val="bg1"/>
              </a:solidFill>
            </a:endParaRPr>
          </a:p>
          <a:p>
            <a:pPr lvl="1">
              <a:lnSpc>
                <a:spcPct val="150000"/>
              </a:lnSpc>
              <a:buFont typeface="Courier New"/>
              <a:buChar char="o"/>
            </a:pPr>
            <a:r>
              <a:rPr lang="en-US" sz="1600">
                <a:solidFill>
                  <a:schemeClr val="bg1"/>
                </a:solidFill>
              </a:rPr>
              <a:t> Reduced manual import/export workflow</a:t>
            </a:r>
            <a:endParaRPr lang="en-US">
              <a:solidFill>
                <a:schemeClr val="bg1"/>
              </a:solidFill>
            </a:endParaRPr>
          </a:p>
          <a:p>
            <a:pPr lvl="1">
              <a:lnSpc>
                <a:spcPct val="150000"/>
              </a:lnSpc>
              <a:buFont typeface="Courier New"/>
              <a:buChar char="o"/>
            </a:pPr>
            <a:r>
              <a:rPr lang="en-US" sz="1600">
                <a:solidFill>
                  <a:schemeClr val="bg1"/>
                </a:solidFill>
              </a:rPr>
              <a:t> Faster iteration between generation and scene placement</a:t>
            </a:r>
            <a:endParaRPr lang="en-US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50000"/>
              </a:lnSpc>
            </a:pPr>
            <a:endParaRPr lang="en-US" sz="1600" dirty="0">
              <a:solidFill>
                <a:schemeClr val="bg1"/>
              </a:solidFill>
            </a:endParaRPr>
          </a:p>
          <a:p>
            <a:pPr lvl="1">
              <a:lnSpc>
                <a:spcPct val="150000"/>
              </a:lnSpc>
              <a:buFont typeface="Courier New"/>
              <a:buChar char="o"/>
            </a:pPr>
            <a:endParaRPr lang="en-US" sz="1600" dirty="0">
              <a:solidFill>
                <a:srgbClr val="FFFFFF"/>
              </a:solidFill>
            </a:endParaRPr>
          </a:p>
          <a:p>
            <a:pPr lvl="1">
              <a:lnSpc>
                <a:spcPct val="150000"/>
              </a:lnSpc>
              <a:buFont typeface="Courier New"/>
              <a:buChar char="o"/>
            </a:pPr>
            <a:br>
              <a:rPr lang="en-US" dirty="0"/>
            </a:br>
            <a:endParaRPr lang="en-US" dirty="0"/>
          </a:p>
          <a:p>
            <a:pPr>
              <a:lnSpc>
                <a:spcPct val="150000"/>
              </a:lnSpc>
              <a:buFont typeface="Arial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lvl="1">
              <a:lnSpc>
                <a:spcPct val="150000"/>
              </a:lnSpc>
              <a:buFont typeface="Courier New"/>
              <a:buChar char="o"/>
            </a:pP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7E8F27F-0398-D2DC-ABE3-EB450C27C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117" y="1589432"/>
            <a:ext cx="4678983" cy="503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747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A87EA-8BB3-79C6-656A-1A8ABD658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3850" y="-2118611"/>
            <a:ext cx="4222117" cy="3697488"/>
          </a:xfrm>
        </p:spPr>
        <p:txBody>
          <a:bodyPr/>
          <a:lstStyle/>
          <a:p>
            <a:r>
              <a:rPr lang="en-US"/>
              <a:t>Reflection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DF94A-DA27-1E29-408E-F5360E814F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3850" y="1716465"/>
            <a:ext cx="4222117" cy="121936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8" name="Picture Placeholder 17" descr="White objects on a white surface">
            <a:extLst>
              <a:ext uri="{FF2B5EF4-FFF2-40B4-BE49-F238E27FC236}">
                <a16:creationId xmlns:a16="http://schemas.microsoft.com/office/drawing/2014/main" id="{2DF43209-08B5-4410-CE46-63D3FC42015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2" r="112"/>
          <a:stretch/>
        </p:blipFill>
        <p:spPr/>
      </p:pic>
    </p:spTree>
    <p:extLst>
      <p:ext uri="{BB962C8B-B14F-4D97-AF65-F5344CB8AC3E}">
        <p14:creationId xmlns:p14="http://schemas.microsoft.com/office/powerpoint/2010/main" val="3272732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360D7-F74C-CD9E-C576-1CB8FFE877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858387724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www.w3.org/2000/xmlns/"/>
    <ds:schemaRef ds:uri="http://www.w3.org/2001/XMLSchema-instan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PortalVTI</vt:lpstr>
      <vt:lpstr>Gulfstream: AI 3d Model Generation</vt:lpstr>
      <vt:lpstr>Context</vt:lpstr>
      <vt:lpstr>Gulfstream's Workflow</vt:lpstr>
      <vt:lpstr>The Problem</vt:lpstr>
      <vt:lpstr>The Solution</vt:lpstr>
      <vt:lpstr>Key Features</vt:lpstr>
      <vt:lpstr>Dual 3D generation Services</vt:lpstr>
      <vt:lpstr>AI-Enhanced object Descriptions</vt:lpstr>
      <vt:lpstr>Image Creation &amp; Upload</vt:lpstr>
      <vt:lpstr>Automated Normalization (New) </vt:lpstr>
      <vt:lpstr>Interactive Post-Processing</vt:lpstr>
      <vt:lpstr>Unreal Engine Export</vt:lpstr>
      <vt:lpstr>Reflection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Gulfstream: AI 3d Model Generation</dc:title>
  <dc:creator/>
  <cp:revision>218</cp:revision>
  <dcterms:created xsi:type="dcterms:W3CDTF">2026-05-06T17:01:07Z</dcterms:created>
  <dcterms:modified xsi:type="dcterms:W3CDTF">2026-05-07T15:10:42Z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