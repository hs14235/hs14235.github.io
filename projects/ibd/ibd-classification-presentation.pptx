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4ED7F-D3E0-4B74-BEF5-85B0BAD18B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38CB89-F610-45E2-ACC7-DA4233C65CCD}">
      <dgm:prSet/>
      <dgm:spPr/>
      <dgm:t>
        <a:bodyPr/>
        <a:lstStyle/>
        <a:p>
          <a:r>
            <a:rPr lang="en-US"/>
            <a:t>The binary target chart shows the actual prediction task used for modeling: IBD vs nonIBD</a:t>
          </a:r>
        </a:p>
      </dgm:t>
    </dgm:pt>
    <dgm:pt modelId="{C9B5F8B3-54B8-4684-9355-2063F0310E47}" type="parTrans" cxnId="{7021A114-14D9-4A59-94BC-9C9B4F113287}">
      <dgm:prSet/>
      <dgm:spPr/>
      <dgm:t>
        <a:bodyPr/>
        <a:lstStyle/>
        <a:p>
          <a:endParaRPr lang="en-US"/>
        </a:p>
      </dgm:t>
    </dgm:pt>
    <dgm:pt modelId="{C8DD1E88-C7FA-4780-8EA2-9BEB2E012F5B}" type="sibTrans" cxnId="{7021A114-14D9-4A59-94BC-9C9B4F113287}">
      <dgm:prSet/>
      <dgm:spPr/>
      <dgm:t>
        <a:bodyPr/>
        <a:lstStyle/>
        <a:p>
          <a:endParaRPr lang="en-US"/>
        </a:p>
      </dgm:t>
    </dgm:pt>
    <dgm:pt modelId="{70F11001-A05B-489E-A381-B4ADB4F0AB2F}">
      <dgm:prSet/>
      <dgm:spPr/>
      <dgm:t>
        <a:bodyPr/>
        <a:lstStyle/>
        <a:p>
          <a:r>
            <a:rPr lang="en-US"/>
            <a:t>CD and UC were combined into the positive class IBD, while nonIBD remained the negative class</a:t>
          </a:r>
        </a:p>
      </dgm:t>
    </dgm:pt>
    <dgm:pt modelId="{ACC52E64-0E18-4F70-BBD6-93C31508E524}" type="parTrans" cxnId="{0790D510-3879-42E5-A1A7-B72875123151}">
      <dgm:prSet/>
      <dgm:spPr/>
      <dgm:t>
        <a:bodyPr/>
        <a:lstStyle/>
        <a:p>
          <a:endParaRPr lang="en-US"/>
        </a:p>
      </dgm:t>
    </dgm:pt>
    <dgm:pt modelId="{F9E2142F-7FA6-4322-91BF-9D686D115F7C}" type="sibTrans" cxnId="{0790D510-3879-42E5-A1A7-B72875123151}">
      <dgm:prSet/>
      <dgm:spPr/>
      <dgm:t>
        <a:bodyPr/>
        <a:lstStyle/>
        <a:p>
          <a:endParaRPr lang="en-US"/>
        </a:p>
      </dgm:t>
    </dgm:pt>
    <dgm:pt modelId="{8F6126CD-F529-41FB-AE39-36FCB5AEB4FB}" type="pres">
      <dgm:prSet presAssocID="{6D24ED7F-D3E0-4B74-BEF5-85B0BAD18B24}" presName="linear" presStyleCnt="0">
        <dgm:presLayoutVars>
          <dgm:animLvl val="lvl"/>
          <dgm:resizeHandles val="exact"/>
        </dgm:presLayoutVars>
      </dgm:prSet>
      <dgm:spPr/>
    </dgm:pt>
    <dgm:pt modelId="{324A9BA0-D9A1-48FD-B74A-638CFF65A5A6}" type="pres">
      <dgm:prSet presAssocID="{A038CB89-F610-45E2-ACC7-DA4233C65C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69C2B07-1EF3-4FD6-B819-B1463B033C8F}" type="pres">
      <dgm:prSet presAssocID="{C8DD1E88-C7FA-4780-8EA2-9BEB2E012F5B}" presName="spacer" presStyleCnt="0"/>
      <dgm:spPr/>
    </dgm:pt>
    <dgm:pt modelId="{9B7ADC48-11E3-44C3-BB82-BB1EF4FE6815}" type="pres">
      <dgm:prSet presAssocID="{70F11001-A05B-489E-A381-B4ADB4F0AB2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43AC00B-8C56-4B5A-A237-7B81433DC275}" type="presOf" srcId="{6D24ED7F-D3E0-4B74-BEF5-85B0BAD18B24}" destId="{8F6126CD-F529-41FB-AE39-36FCB5AEB4FB}" srcOrd="0" destOrd="0" presId="urn:microsoft.com/office/officeart/2005/8/layout/vList2"/>
    <dgm:cxn modelId="{0790D510-3879-42E5-A1A7-B72875123151}" srcId="{6D24ED7F-D3E0-4B74-BEF5-85B0BAD18B24}" destId="{70F11001-A05B-489E-A381-B4ADB4F0AB2F}" srcOrd="1" destOrd="0" parTransId="{ACC52E64-0E18-4F70-BBD6-93C31508E524}" sibTransId="{F9E2142F-7FA6-4322-91BF-9D686D115F7C}"/>
    <dgm:cxn modelId="{7021A114-14D9-4A59-94BC-9C9B4F113287}" srcId="{6D24ED7F-D3E0-4B74-BEF5-85B0BAD18B24}" destId="{A038CB89-F610-45E2-ACC7-DA4233C65CCD}" srcOrd="0" destOrd="0" parTransId="{C9B5F8B3-54B8-4684-9355-2063F0310E47}" sibTransId="{C8DD1E88-C7FA-4780-8EA2-9BEB2E012F5B}"/>
    <dgm:cxn modelId="{123F16A5-9EDC-49AC-B08E-63CB88583354}" type="presOf" srcId="{A038CB89-F610-45E2-ACC7-DA4233C65CCD}" destId="{324A9BA0-D9A1-48FD-B74A-638CFF65A5A6}" srcOrd="0" destOrd="0" presId="urn:microsoft.com/office/officeart/2005/8/layout/vList2"/>
    <dgm:cxn modelId="{C137EAC5-7840-4F82-AD4F-E0FA1AA9BC82}" type="presOf" srcId="{70F11001-A05B-489E-A381-B4ADB4F0AB2F}" destId="{9B7ADC48-11E3-44C3-BB82-BB1EF4FE6815}" srcOrd="0" destOrd="0" presId="urn:microsoft.com/office/officeart/2005/8/layout/vList2"/>
    <dgm:cxn modelId="{4B677676-CAB3-455A-83BC-63F9C086DC45}" type="presParOf" srcId="{8F6126CD-F529-41FB-AE39-36FCB5AEB4FB}" destId="{324A9BA0-D9A1-48FD-B74A-638CFF65A5A6}" srcOrd="0" destOrd="0" presId="urn:microsoft.com/office/officeart/2005/8/layout/vList2"/>
    <dgm:cxn modelId="{09B5229C-743A-4560-89CB-8D2150C37E19}" type="presParOf" srcId="{8F6126CD-F529-41FB-AE39-36FCB5AEB4FB}" destId="{B69C2B07-1EF3-4FD6-B819-B1463B033C8F}" srcOrd="1" destOrd="0" presId="urn:microsoft.com/office/officeart/2005/8/layout/vList2"/>
    <dgm:cxn modelId="{44797072-5C6E-45D4-9072-CA823F1E0A40}" type="presParOf" srcId="{8F6126CD-F529-41FB-AE39-36FCB5AEB4FB}" destId="{9B7ADC48-11E3-44C3-BB82-BB1EF4FE681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075913-3501-43CB-903D-16305F45D1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80F12D-E111-44D4-9D4B-93B5A1DA0EFF}">
      <dgm:prSet/>
      <dgm:spPr/>
      <dgm:t>
        <a:bodyPr/>
        <a:lstStyle/>
        <a:p>
          <a:r>
            <a:rPr lang="en-US"/>
            <a:t>The model comparison table evaluates each classifier on the same held-out test set</a:t>
          </a:r>
        </a:p>
      </dgm:t>
    </dgm:pt>
    <dgm:pt modelId="{DD5A3052-2F31-4242-B766-C6C8502ACC5D}" type="parTrans" cxnId="{A0ED0675-FB3C-4CF9-9431-1D00E3032EFB}">
      <dgm:prSet/>
      <dgm:spPr/>
      <dgm:t>
        <a:bodyPr/>
        <a:lstStyle/>
        <a:p>
          <a:endParaRPr lang="en-US"/>
        </a:p>
      </dgm:t>
    </dgm:pt>
    <dgm:pt modelId="{C8FB9555-7164-4B82-B547-30F1E4071E96}" type="sibTrans" cxnId="{A0ED0675-FB3C-4CF9-9431-1D00E3032EFB}">
      <dgm:prSet/>
      <dgm:spPr/>
      <dgm:t>
        <a:bodyPr/>
        <a:lstStyle/>
        <a:p>
          <a:endParaRPr lang="en-US"/>
        </a:p>
      </dgm:t>
    </dgm:pt>
    <dgm:pt modelId="{AF68F71D-83F1-4949-B007-8429040883B8}">
      <dgm:prSet/>
      <dgm:spPr/>
      <dgm:t>
        <a:bodyPr/>
        <a:lstStyle/>
        <a:p>
          <a:r>
            <a:rPr lang="en-US"/>
            <a:t>Gradient Boosting achieved the best ROC-AUC, while the majority baseline showed why high raw accuracy can be misleading in imbalanced data</a:t>
          </a:r>
        </a:p>
      </dgm:t>
    </dgm:pt>
    <dgm:pt modelId="{6DDE7116-753E-44AF-B4F3-A4FC9AD6FD93}" type="parTrans" cxnId="{EA73E5A5-9B9F-4991-9DC4-2365565BD214}">
      <dgm:prSet/>
      <dgm:spPr/>
      <dgm:t>
        <a:bodyPr/>
        <a:lstStyle/>
        <a:p>
          <a:endParaRPr lang="en-US"/>
        </a:p>
      </dgm:t>
    </dgm:pt>
    <dgm:pt modelId="{562B83A6-21AB-4448-B956-3FAFADED67E3}" type="sibTrans" cxnId="{EA73E5A5-9B9F-4991-9DC4-2365565BD214}">
      <dgm:prSet/>
      <dgm:spPr/>
      <dgm:t>
        <a:bodyPr/>
        <a:lstStyle/>
        <a:p>
          <a:endParaRPr lang="en-US"/>
        </a:p>
      </dgm:t>
    </dgm:pt>
    <dgm:pt modelId="{17DCE628-0FE1-41A3-8BD7-B2BF8DA0AE30}">
      <dgm:prSet/>
      <dgm:spPr/>
      <dgm:t>
        <a:bodyPr/>
        <a:lstStyle/>
        <a:p>
          <a:r>
            <a:rPr lang="en-US"/>
            <a:t>This table supports choosing the final model based on recall, specificity, balanced accuracy, and ranking performance rather than accuracy alone</a:t>
          </a:r>
        </a:p>
      </dgm:t>
    </dgm:pt>
    <dgm:pt modelId="{BFFE0370-DF25-4366-BCFA-CC3BE2E22904}" type="parTrans" cxnId="{A555328C-E962-4F59-A300-E40C7BD4F79C}">
      <dgm:prSet/>
      <dgm:spPr/>
      <dgm:t>
        <a:bodyPr/>
        <a:lstStyle/>
        <a:p>
          <a:endParaRPr lang="en-US"/>
        </a:p>
      </dgm:t>
    </dgm:pt>
    <dgm:pt modelId="{7C49D935-B0DE-4EBB-AE35-9FAD997FBE61}" type="sibTrans" cxnId="{A555328C-E962-4F59-A300-E40C7BD4F79C}">
      <dgm:prSet/>
      <dgm:spPr/>
      <dgm:t>
        <a:bodyPr/>
        <a:lstStyle/>
        <a:p>
          <a:endParaRPr lang="en-US"/>
        </a:p>
      </dgm:t>
    </dgm:pt>
    <dgm:pt modelId="{56C5FC07-4E44-4402-9DD9-C97047005C9B}" type="pres">
      <dgm:prSet presAssocID="{33075913-3501-43CB-903D-16305F45D1BB}" presName="linear" presStyleCnt="0">
        <dgm:presLayoutVars>
          <dgm:animLvl val="lvl"/>
          <dgm:resizeHandles val="exact"/>
        </dgm:presLayoutVars>
      </dgm:prSet>
      <dgm:spPr/>
    </dgm:pt>
    <dgm:pt modelId="{FE9DD2F0-D01A-44EF-9F34-179E4D890932}" type="pres">
      <dgm:prSet presAssocID="{F180F12D-E111-44D4-9D4B-93B5A1DA0E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A137FA-960D-402E-9D1D-81F455F9E08D}" type="pres">
      <dgm:prSet presAssocID="{C8FB9555-7164-4B82-B547-30F1E4071E96}" presName="spacer" presStyleCnt="0"/>
      <dgm:spPr/>
    </dgm:pt>
    <dgm:pt modelId="{946D56BC-1C00-43F9-BCD1-DDAFEC80AC98}" type="pres">
      <dgm:prSet presAssocID="{AF68F71D-83F1-4949-B007-8429040883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829FA0-0455-4BA4-B531-C3B2989514C0}" type="pres">
      <dgm:prSet presAssocID="{562B83A6-21AB-4448-B956-3FAFADED67E3}" presName="spacer" presStyleCnt="0"/>
      <dgm:spPr/>
    </dgm:pt>
    <dgm:pt modelId="{7BD1B792-1747-4D4A-9903-D1297D3A87B3}" type="pres">
      <dgm:prSet presAssocID="{17DCE628-0FE1-41A3-8BD7-B2BF8DA0AE3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78C960E-D7AA-4A81-8486-FF9609DC429E}" type="presOf" srcId="{AF68F71D-83F1-4949-B007-8429040883B8}" destId="{946D56BC-1C00-43F9-BCD1-DDAFEC80AC98}" srcOrd="0" destOrd="0" presId="urn:microsoft.com/office/officeart/2005/8/layout/vList2"/>
    <dgm:cxn modelId="{2A92526F-BADA-442E-B374-2BD19030BCCD}" type="presOf" srcId="{33075913-3501-43CB-903D-16305F45D1BB}" destId="{56C5FC07-4E44-4402-9DD9-C97047005C9B}" srcOrd="0" destOrd="0" presId="urn:microsoft.com/office/officeart/2005/8/layout/vList2"/>
    <dgm:cxn modelId="{A0ED0675-FB3C-4CF9-9431-1D00E3032EFB}" srcId="{33075913-3501-43CB-903D-16305F45D1BB}" destId="{F180F12D-E111-44D4-9D4B-93B5A1DA0EFF}" srcOrd="0" destOrd="0" parTransId="{DD5A3052-2F31-4242-B766-C6C8502ACC5D}" sibTransId="{C8FB9555-7164-4B82-B547-30F1E4071E96}"/>
    <dgm:cxn modelId="{A555328C-E962-4F59-A300-E40C7BD4F79C}" srcId="{33075913-3501-43CB-903D-16305F45D1BB}" destId="{17DCE628-0FE1-41A3-8BD7-B2BF8DA0AE30}" srcOrd="2" destOrd="0" parTransId="{BFFE0370-DF25-4366-BCFA-CC3BE2E22904}" sibTransId="{7C49D935-B0DE-4EBB-AE35-9FAD997FBE61}"/>
    <dgm:cxn modelId="{EA73E5A5-9B9F-4991-9DC4-2365565BD214}" srcId="{33075913-3501-43CB-903D-16305F45D1BB}" destId="{AF68F71D-83F1-4949-B007-8429040883B8}" srcOrd="1" destOrd="0" parTransId="{6DDE7116-753E-44AF-B4F3-A4FC9AD6FD93}" sibTransId="{562B83A6-21AB-4448-B956-3FAFADED67E3}"/>
    <dgm:cxn modelId="{064DA6BC-2F01-4A7B-A571-112A0AD80FE4}" type="presOf" srcId="{F180F12D-E111-44D4-9D4B-93B5A1DA0EFF}" destId="{FE9DD2F0-D01A-44EF-9F34-179E4D890932}" srcOrd="0" destOrd="0" presId="urn:microsoft.com/office/officeart/2005/8/layout/vList2"/>
    <dgm:cxn modelId="{2D8A88BE-2BD9-450E-8BD7-CF9A2E638278}" type="presOf" srcId="{17DCE628-0FE1-41A3-8BD7-B2BF8DA0AE30}" destId="{7BD1B792-1747-4D4A-9903-D1297D3A87B3}" srcOrd="0" destOrd="0" presId="urn:microsoft.com/office/officeart/2005/8/layout/vList2"/>
    <dgm:cxn modelId="{A3F12DD3-A42E-4556-8617-C2A10E50D586}" type="presParOf" srcId="{56C5FC07-4E44-4402-9DD9-C97047005C9B}" destId="{FE9DD2F0-D01A-44EF-9F34-179E4D890932}" srcOrd="0" destOrd="0" presId="urn:microsoft.com/office/officeart/2005/8/layout/vList2"/>
    <dgm:cxn modelId="{ED44DA36-DB34-4CD6-A1D4-82D128063606}" type="presParOf" srcId="{56C5FC07-4E44-4402-9DD9-C97047005C9B}" destId="{E1A137FA-960D-402E-9D1D-81F455F9E08D}" srcOrd="1" destOrd="0" presId="urn:microsoft.com/office/officeart/2005/8/layout/vList2"/>
    <dgm:cxn modelId="{CC4131EB-70B2-489C-8A7B-E476E534D353}" type="presParOf" srcId="{56C5FC07-4E44-4402-9DD9-C97047005C9B}" destId="{946D56BC-1C00-43F9-BCD1-DDAFEC80AC98}" srcOrd="2" destOrd="0" presId="urn:microsoft.com/office/officeart/2005/8/layout/vList2"/>
    <dgm:cxn modelId="{2EF09B3F-C6BD-42DC-ADD8-372BF0A52BB1}" type="presParOf" srcId="{56C5FC07-4E44-4402-9DD9-C97047005C9B}" destId="{5F829FA0-0455-4BA4-B531-C3B2989514C0}" srcOrd="3" destOrd="0" presId="urn:microsoft.com/office/officeart/2005/8/layout/vList2"/>
    <dgm:cxn modelId="{D7895928-E4EF-43F2-9D47-E883F633402C}" type="presParOf" srcId="{56C5FC07-4E44-4402-9DD9-C97047005C9B}" destId="{7BD1B792-1747-4D4A-9903-D1297D3A87B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949243-F86A-447F-97F9-176EA7FEB9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B353DF-0109-4047-A88A-777C7EC59017}">
      <dgm:prSet/>
      <dgm:spPr/>
      <dgm:t>
        <a:bodyPr/>
        <a:lstStyle/>
        <a:p>
          <a:r>
            <a:rPr lang="en-US"/>
            <a:t>The threshold tuning table shows how changing the classification cutoff changes recall and specificity</a:t>
          </a:r>
        </a:p>
      </dgm:t>
    </dgm:pt>
    <dgm:pt modelId="{DF922DC3-5362-47FA-95A0-9AD59F8A33C5}" type="parTrans" cxnId="{6281F7FF-66FB-44E5-9E4B-B24721B26F44}">
      <dgm:prSet/>
      <dgm:spPr/>
      <dgm:t>
        <a:bodyPr/>
        <a:lstStyle/>
        <a:p>
          <a:endParaRPr lang="en-US"/>
        </a:p>
      </dgm:t>
    </dgm:pt>
    <dgm:pt modelId="{D27C2EE6-08AF-4C0C-93CF-5BC6BA919F5A}" type="sibTrans" cxnId="{6281F7FF-66FB-44E5-9E4B-B24721B26F44}">
      <dgm:prSet/>
      <dgm:spPr/>
      <dgm:t>
        <a:bodyPr/>
        <a:lstStyle/>
        <a:p>
          <a:endParaRPr lang="en-US"/>
        </a:p>
      </dgm:t>
    </dgm:pt>
    <dgm:pt modelId="{5F457ED3-F264-4349-B0A3-DF7A34225E30}">
      <dgm:prSet/>
      <dgm:spPr/>
      <dgm:t>
        <a:bodyPr/>
        <a:lstStyle/>
        <a:p>
          <a:r>
            <a:rPr lang="en-US"/>
            <a:t>The default threshold favored very high IBD recall but weak nonIBD specificity</a:t>
          </a:r>
        </a:p>
      </dgm:t>
    </dgm:pt>
    <dgm:pt modelId="{FC4A11EE-9F91-467C-97C6-27CAE001FB58}" type="parTrans" cxnId="{D558498A-3396-4EEA-A75E-B44E27FCE056}">
      <dgm:prSet/>
      <dgm:spPr/>
      <dgm:t>
        <a:bodyPr/>
        <a:lstStyle/>
        <a:p>
          <a:endParaRPr lang="en-US"/>
        </a:p>
      </dgm:t>
    </dgm:pt>
    <dgm:pt modelId="{D50353FE-873C-4992-B5C6-2465A3C91C3E}" type="sibTrans" cxnId="{D558498A-3396-4EEA-A75E-B44E27FCE056}">
      <dgm:prSet/>
      <dgm:spPr/>
      <dgm:t>
        <a:bodyPr/>
        <a:lstStyle/>
        <a:p>
          <a:endParaRPr lang="en-US"/>
        </a:p>
      </dgm:t>
    </dgm:pt>
    <dgm:pt modelId="{E8F5580E-C1AA-4218-886E-C16046948E8C}">
      <dgm:prSet/>
      <dgm:spPr/>
      <dgm:t>
        <a:bodyPr/>
        <a:lstStyle/>
        <a:p>
          <a:r>
            <a:rPr lang="en-US"/>
            <a:t>A tuned threshold of 0.67 produced a more balanced tradeoff, making the final model more clinically interpretable</a:t>
          </a:r>
        </a:p>
      </dgm:t>
    </dgm:pt>
    <dgm:pt modelId="{AA459210-6947-4B03-B011-289AD16029CC}" type="parTrans" cxnId="{9BBCBCA4-33BD-48AB-BD01-0D4714A20B49}">
      <dgm:prSet/>
      <dgm:spPr/>
      <dgm:t>
        <a:bodyPr/>
        <a:lstStyle/>
        <a:p>
          <a:endParaRPr lang="en-US"/>
        </a:p>
      </dgm:t>
    </dgm:pt>
    <dgm:pt modelId="{D329EFE6-BCB5-4550-9B5F-66AF0D478DDA}" type="sibTrans" cxnId="{9BBCBCA4-33BD-48AB-BD01-0D4714A20B49}">
      <dgm:prSet/>
      <dgm:spPr/>
      <dgm:t>
        <a:bodyPr/>
        <a:lstStyle/>
        <a:p>
          <a:endParaRPr lang="en-US"/>
        </a:p>
      </dgm:t>
    </dgm:pt>
    <dgm:pt modelId="{3F9768FA-6A86-4F82-9AF6-12255D84A84A}" type="pres">
      <dgm:prSet presAssocID="{DD949243-F86A-447F-97F9-176EA7FEB9A6}" presName="linear" presStyleCnt="0">
        <dgm:presLayoutVars>
          <dgm:animLvl val="lvl"/>
          <dgm:resizeHandles val="exact"/>
        </dgm:presLayoutVars>
      </dgm:prSet>
      <dgm:spPr/>
    </dgm:pt>
    <dgm:pt modelId="{D6F12E90-919E-4FA0-B574-AF996E527993}" type="pres">
      <dgm:prSet presAssocID="{C6B353DF-0109-4047-A88A-777C7EC590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3F5B343-52B8-40BA-96FE-90C8A5831514}" type="pres">
      <dgm:prSet presAssocID="{D27C2EE6-08AF-4C0C-93CF-5BC6BA919F5A}" presName="spacer" presStyleCnt="0"/>
      <dgm:spPr/>
    </dgm:pt>
    <dgm:pt modelId="{912CD193-3555-45D5-9228-E4CCD6B0152D}" type="pres">
      <dgm:prSet presAssocID="{5F457ED3-F264-4349-B0A3-DF7A34225E3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C5A157E-BB2A-43FC-AF8F-0DBED57FFF58}" type="pres">
      <dgm:prSet presAssocID="{D50353FE-873C-4992-B5C6-2465A3C91C3E}" presName="spacer" presStyleCnt="0"/>
      <dgm:spPr/>
    </dgm:pt>
    <dgm:pt modelId="{5035F747-E167-4F68-B1C1-812FBEF2F54D}" type="pres">
      <dgm:prSet presAssocID="{E8F5580E-C1AA-4218-886E-C16046948E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01FC720-4236-49A4-B5E3-19F74C893FC8}" type="presOf" srcId="{C6B353DF-0109-4047-A88A-777C7EC59017}" destId="{D6F12E90-919E-4FA0-B574-AF996E527993}" srcOrd="0" destOrd="0" presId="urn:microsoft.com/office/officeart/2005/8/layout/vList2"/>
    <dgm:cxn modelId="{8CCE5C33-0C3B-44C7-97D8-6BD7541AD8E4}" type="presOf" srcId="{DD949243-F86A-447F-97F9-176EA7FEB9A6}" destId="{3F9768FA-6A86-4F82-9AF6-12255D84A84A}" srcOrd="0" destOrd="0" presId="urn:microsoft.com/office/officeart/2005/8/layout/vList2"/>
    <dgm:cxn modelId="{D558498A-3396-4EEA-A75E-B44E27FCE056}" srcId="{DD949243-F86A-447F-97F9-176EA7FEB9A6}" destId="{5F457ED3-F264-4349-B0A3-DF7A34225E30}" srcOrd="1" destOrd="0" parTransId="{FC4A11EE-9F91-467C-97C6-27CAE001FB58}" sibTransId="{D50353FE-873C-4992-B5C6-2465A3C91C3E}"/>
    <dgm:cxn modelId="{43828A8B-075B-4BB9-8209-946275819971}" type="presOf" srcId="{5F457ED3-F264-4349-B0A3-DF7A34225E30}" destId="{912CD193-3555-45D5-9228-E4CCD6B0152D}" srcOrd="0" destOrd="0" presId="urn:microsoft.com/office/officeart/2005/8/layout/vList2"/>
    <dgm:cxn modelId="{61A915A4-9870-4FBF-A092-3BE2D99EEEF8}" type="presOf" srcId="{E8F5580E-C1AA-4218-886E-C16046948E8C}" destId="{5035F747-E167-4F68-B1C1-812FBEF2F54D}" srcOrd="0" destOrd="0" presId="urn:microsoft.com/office/officeart/2005/8/layout/vList2"/>
    <dgm:cxn modelId="{9BBCBCA4-33BD-48AB-BD01-0D4714A20B49}" srcId="{DD949243-F86A-447F-97F9-176EA7FEB9A6}" destId="{E8F5580E-C1AA-4218-886E-C16046948E8C}" srcOrd="2" destOrd="0" parTransId="{AA459210-6947-4B03-B011-289AD16029CC}" sibTransId="{D329EFE6-BCB5-4550-9B5F-66AF0D478DDA}"/>
    <dgm:cxn modelId="{6281F7FF-66FB-44E5-9E4B-B24721B26F44}" srcId="{DD949243-F86A-447F-97F9-176EA7FEB9A6}" destId="{C6B353DF-0109-4047-A88A-777C7EC59017}" srcOrd="0" destOrd="0" parTransId="{DF922DC3-5362-47FA-95A0-9AD59F8A33C5}" sibTransId="{D27C2EE6-08AF-4C0C-93CF-5BC6BA919F5A}"/>
    <dgm:cxn modelId="{4BF0D6A2-74C1-425B-BC42-FB5160F093CF}" type="presParOf" srcId="{3F9768FA-6A86-4F82-9AF6-12255D84A84A}" destId="{D6F12E90-919E-4FA0-B574-AF996E527993}" srcOrd="0" destOrd="0" presId="urn:microsoft.com/office/officeart/2005/8/layout/vList2"/>
    <dgm:cxn modelId="{352BABCC-D529-46ED-A874-F88870DDE9BC}" type="presParOf" srcId="{3F9768FA-6A86-4F82-9AF6-12255D84A84A}" destId="{43F5B343-52B8-40BA-96FE-90C8A5831514}" srcOrd="1" destOrd="0" presId="urn:microsoft.com/office/officeart/2005/8/layout/vList2"/>
    <dgm:cxn modelId="{75F424EB-8152-404E-8905-6F0E441400C2}" type="presParOf" srcId="{3F9768FA-6A86-4F82-9AF6-12255D84A84A}" destId="{912CD193-3555-45D5-9228-E4CCD6B0152D}" srcOrd="2" destOrd="0" presId="urn:microsoft.com/office/officeart/2005/8/layout/vList2"/>
    <dgm:cxn modelId="{83BB223E-F7D2-44B0-B0FD-12F70C692F2F}" type="presParOf" srcId="{3F9768FA-6A86-4F82-9AF6-12255D84A84A}" destId="{1C5A157E-BB2A-43FC-AF8F-0DBED57FFF58}" srcOrd="3" destOrd="0" presId="urn:microsoft.com/office/officeart/2005/8/layout/vList2"/>
    <dgm:cxn modelId="{792CD666-4EB6-4D0E-8ED5-209A3C194F73}" type="presParOf" srcId="{3F9768FA-6A86-4F82-9AF6-12255D84A84A}" destId="{5035F747-E167-4F68-B1C1-812FBEF2F5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EEE9CD-3115-49D1-88C7-352035E7969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A59F4D-7A94-41DE-B8B4-A4A341BF2A08}">
      <dgm:prSet/>
      <dgm:spPr/>
      <dgm:t>
        <a:bodyPr/>
        <a:lstStyle/>
        <a:p>
          <a:r>
            <a:rPr lang="en-US"/>
            <a:t>It records 29 true negatives, 20 false positives, 52 false negatives, and 204 true positives</a:t>
          </a:r>
        </a:p>
      </dgm:t>
    </dgm:pt>
    <dgm:pt modelId="{21E4240C-5B54-48BE-BC5D-7CE179578097}" type="parTrans" cxnId="{82BC1A18-7DDB-4FE6-B215-760AFAD80A31}">
      <dgm:prSet/>
      <dgm:spPr/>
      <dgm:t>
        <a:bodyPr/>
        <a:lstStyle/>
        <a:p>
          <a:endParaRPr lang="en-US"/>
        </a:p>
      </dgm:t>
    </dgm:pt>
    <dgm:pt modelId="{098167C7-E13D-4547-9991-138563A8C46E}" type="sibTrans" cxnId="{82BC1A18-7DDB-4FE6-B215-760AFAD80A31}">
      <dgm:prSet/>
      <dgm:spPr/>
      <dgm:t>
        <a:bodyPr/>
        <a:lstStyle/>
        <a:p>
          <a:endParaRPr lang="en-US"/>
        </a:p>
      </dgm:t>
    </dgm:pt>
    <dgm:pt modelId="{036A0BAD-2BE3-4F3F-9F86-D54A5BFD479C}">
      <dgm:prSet/>
      <dgm:spPr/>
      <dgm:t>
        <a:bodyPr/>
        <a:lstStyle/>
        <a:p>
          <a:r>
            <a:rPr lang="en-US"/>
            <a:t>This figure gives the clearest single summary of the model's real classification behavior after threshold tuning</a:t>
          </a:r>
        </a:p>
      </dgm:t>
    </dgm:pt>
    <dgm:pt modelId="{C9DE1C5F-F49F-4636-8D31-1FC27E8143C9}" type="parTrans" cxnId="{10249D64-6A52-43EF-9F58-2416C2250E40}">
      <dgm:prSet/>
      <dgm:spPr/>
      <dgm:t>
        <a:bodyPr/>
        <a:lstStyle/>
        <a:p>
          <a:endParaRPr lang="en-US"/>
        </a:p>
      </dgm:t>
    </dgm:pt>
    <dgm:pt modelId="{39272A9A-31B6-4E76-85A3-10FEF66DA154}" type="sibTrans" cxnId="{10249D64-6A52-43EF-9F58-2416C2250E40}">
      <dgm:prSet/>
      <dgm:spPr/>
      <dgm:t>
        <a:bodyPr/>
        <a:lstStyle/>
        <a:p>
          <a:endParaRPr lang="en-US"/>
        </a:p>
      </dgm:t>
    </dgm:pt>
    <dgm:pt modelId="{EFA60C69-9D25-4B2A-B228-7A9F5C27A9F2}" type="pres">
      <dgm:prSet presAssocID="{AEEEE9CD-3115-49D1-88C7-352035E7969B}" presName="linear" presStyleCnt="0">
        <dgm:presLayoutVars>
          <dgm:animLvl val="lvl"/>
          <dgm:resizeHandles val="exact"/>
        </dgm:presLayoutVars>
      </dgm:prSet>
      <dgm:spPr/>
    </dgm:pt>
    <dgm:pt modelId="{DD29B2B0-AFC7-4D88-811E-A131960E856E}" type="pres">
      <dgm:prSet presAssocID="{D0A59F4D-7A94-41DE-B8B4-A4A341BF2A0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F15DAFF-BC20-4B70-9564-1AF16A070F85}" type="pres">
      <dgm:prSet presAssocID="{098167C7-E13D-4547-9991-138563A8C46E}" presName="spacer" presStyleCnt="0"/>
      <dgm:spPr/>
    </dgm:pt>
    <dgm:pt modelId="{E24C2531-EA97-42C8-BB9C-0B47BE5513B1}" type="pres">
      <dgm:prSet presAssocID="{036A0BAD-2BE3-4F3F-9F86-D54A5BFD479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2BC1A18-7DDB-4FE6-B215-760AFAD80A31}" srcId="{AEEEE9CD-3115-49D1-88C7-352035E7969B}" destId="{D0A59F4D-7A94-41DE-B8B4-A4A341BF2A08}" srcOrd="0" destOrd="0" parTransId="{21E4240C-5B54-48BE-BC5D-7CE179578097}" sibTransId="{098167C7-E13D-4547-9991-138563A8C46E}"/>
    <dgm:cxn modelId="{10249D64-6A52-43EF-9F58-2416C2250E40}" srcId="{AEEEE9CD-3115-49D1-88C7-352035E7969B}" destId="{036A0BAD-2BE3-4F3F-9F86-D54A5BFD479C}" srcOrd="1" destOrd="0" parTransId="{C9DE1C5F-F49F-4636-8D31-1FC27E8143C9}" sibTransId="{39272A9A-31B6-4E76-85A3-10FEF66DA154}"/>
    <dgm:cxn modelId="{4C324B4B-28D4-420B-9BC4-EB9274D7B714}" type="presOf" srcId="{D0A59F4D-7A94-41DE-B8B4-A4A341BF2A08}" destId="{DD29B2B0-AFC7-4D88-811E-A131960E856E}" srcOrd="0" destOrd="0" presId="urn:microsoft.com/office/officeart/2005/8/layout/vList2"/>
    <dgm:cxn modelId="{B2887955-A9CD-4F6A-A091-0DB04F1FD133}" type="presOf" srcId="{AEEEE9CD-3115-49D1-88C7-352035E7969B}" destId="{EFA60C69-9D25-4B2A-B228-7A9F5C27A9F2}" srcOrd="0" destOrd="0" presId="urn:microsoft.com/office/officeart/2005/8/layout/vList2"/>
    <dgm:cxn modelId="{76B3CC7F-51BC-4A34-9376-62B28DA5489F}" type="presOf" srcId="{036A0BAD-2BE3-4F3F-9F86-D54A5BFD479C}" destId="{E24C2531-EA97-42C8-BB9C-0B47BE5513B1}" srcOrd="0" destOrd="0" presId="urn:microsoft.com/office/officeart/2005/8/layout/vList2"/>
    <dgm:cxn modelId="{B022B86F-706F-4D32-946D-97B33946E636}" type="presParOf" srcId="{EFA60C69-9D25-4B2A-B228-7A9F5C27A9F2}" destId="{DD29B2B0-AFC7-4D88-811E-A131960E856E}" srcOrd="0" destOrd="0" presId="urn:microsoft.com/office/officeart/2005/8/layout/vList2"/>
    <dgm:cxn modelId="{F5ED9481-F731-4C00-832A-F9AB90594B2A}" type="presParOf" srcId="{EFA60C69-9D25-4B2A-B228-7A9F5C27A9F2}" destId="{BF15DAFF-BC20-4B70-9564-1AF16A070F85}" srcOrd="1" destOrd="0" presId="urn:microsoft.com/office/officeart/2005/8/layout/vList2"/>
    <dgm:cxn modelId="{3B9DE302-BB9E-48F0-B061-2DBE13D915D3}" type="presParOf" srcId="{EFA60C69-9D25-4B2A-B228-7A9F5C27A9F2}" destId="{E24C2531-EA97-42C8-BB9C-0B47BE5513B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48F27B-C318-4031-B54B-EF6AEB9FBD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B81963-6ACD-4136-AB43-8BA95C389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Gradient Boosting model achieved an ROC-AUC of about 0.76, which indicates meaningful discrimination above random guessing</a:t>
          </a:r>
        </a:p>
      </dgm:t>
    </dgm:pt>
    <dgm:pt modelId="{BE2C443B-D474-44EF-8A58-7D9218DF4C02}" type="sibTrans" cxnId="{2BD8483E-CA4C-48C4-8426-5D72E536BCDE}">
      <dgm:prSet/>
      <dgm:spPr/>
      <dgm:t>
        <a:bodyPr/>
        <a:lstStyle/>
        <a:p>
          <a:endParaRPr lang="en-US"/>
        </a:p>
      </dgm:t>
    </dgm:pt>
    <dgm:pt modelId="{E04C0D40-D111-4EAD-A1B3-3691A63286FA}" type="parTrans" cxnId="{2BD8483E-CA4C-48C4-8426-5D72E536BCDE}">
      <dgm:prSet/>
      <dgm:spPr/>
      <dgm:t>
        <a:bodyPr/>
        <a:lstStyle/>
        <a:p>
          <a:endParaRPr lang="en-US"/>
        </a:p>
      </dgm:t>
    </dgm:pt>
    <dgm:pt modelId="{5B179B55-6B3D-49BB-A780-8B489A1CF1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curve is useful because it evaluates ranking quality independently of the final chosen threshold</a:t>
          </a:r>
        </a:p>
      </dgm:t>
    </dgm:pt>
    <dgm:pt modelId="{29116B4C-BA5E-4EAA-80BF-D792AF09C1A4}" type="sibTrans" cxnId="{CE9FD5E3-446C-44C7-BD89-188A1DFB00E5}">
      <dgm:prSet/>
      <dgm:spPr/>
      <dgm:t>
        <a:bodyPr/>
        <a:lstStyle/>
        <a:p>
          <a:endParaRPr lang="en-US"/>
        </a:p>
      </dgm:t>
    </dgm:pt>
    <dgm:pt modelId="{2080381D-8B35-4344-93CE-4DC28C45F075}" type="parTrans" cxnId="{CE9FD5E3-446C-44C7-BD89-188A1DFB00E5}">
      <dgm:prSet/>
      <dgm:spPr/>
      <dgm:t>
        <a:bodyPr/>
        <a:lstStyle/>
        <a:p>
          <a:endParaRPr lang="en-US"/>
        </a:p>
      </dgm:t>
    </dgm:pt>
    <dgm:pt modelId="{B6302325-786B-405D-B0F0-D4C9458FB8C1}" type="pres">
      <dgm:prSet presAssocID="{7B48F27B-C318-4031-B54B-EF6AEB9FBD5C}" presName="root" presStyleCnt="0">
        <dgm:presLayoutVars>
          <dgm:dir/>
          <dgm:resizeHandles val="exact"/>
        </dgm:presLayoutVars>
      </dgm:prSet>
      <dgm:spPr/>
    </dgm:pt>
    <dgm:pt modelId="{2BD8E163-8EF1-4E00-894C-4B838A461CCF}" type="pres">
      <dgm:prSet presAssocID="{2DB81963-6ACD-4136-AB43-8BA95C3890EF}" presName="compNode" presStyleCnt="0"/>
      <dgm:spPr/>
    </dgm:pt>
    <dgm:pt modelId="{6967CCE9-BB73-457D-B698-1A621D63514D}" type="pres">
      <dgm:prSet presAssocID="{2DB81963-6ACD-4136-AB43-8BA95C3890EF}" presName="bgRect" presStyleLbl="bgShp" presStyleIdx="0" presStyleCnt="2"/>
      <dgm:spPr/>
    </dgm:pt>
    <dgm:pt modelId="{7AB978CB-89DA-4DDC-AE7B-624B0E83812B}" type="pres">
      <dgm:prSet presAssocID="{2DB81963-6ACD-4136-AB43-8BA95C3890EF}" presName="iconRect" presStyleLbl="node1" presStyleIdx="0" presStyleCnt="2" custLinFactNeighborX="32237" custLinFactNeighborY="7164"/>
      <dgm:spPr/>
    </dgm:pt>
    <dgm:pt modelId="{57F46F4C-79BC-4A95-BD53-AFAA3EC4A131}" type="pres">
      <dgm:prSet presAssocID="{2DB81963-6ACD-4136-AB43-8BA95C3890EF}" presName="spaceRect" presStyleCnt="0"/>
      <dgm:spPr/>
    </dgm:pt>
    <dgm:pt modelId="{99FCB1E8-DF4B-4C65-AC5E-6FB64B6C38EA}" type="pres">
      <dgm:prSet presAssocID="{2DB81963-6ACD-4136-AB43-8BA95C3890EF}" presName="parTx" presStyleLbl="revTx" presStyleIdx="0" presStyleCnt="2">
        <dgm:presLayoutVars>
          <dgm:chMax val="0"/>
          <dgm:chPref val="0"/>
        </dgm:presLayoutVars>
      </dgm:prSet>
      <dgm:spPr/>
    </dgm:pt>
    <dgm:pt modelId="{906DFDD0-AF88-44E1-9EEF-B9A9648A91B1}" type="pres">
      <dgm:prSet presAssocID="{BE2C443B-D474-44EF-8A58-7D9218DF4C02}" presName="sibTrans" presStyleCnt="0"/>
      <dgm:spPr/>
    </dgm:pt>
    <dgm:pt modelId="{02C8B886-D1CB-4C8C-9A2F-1F66FD95CAC5}" type="pres">
      <dgm:prSet presAssocID="{5B179B55-6B3D-49BB-A780-8B489A1CF113}" presName="compNode" presStyleCnt="0"/>
      <dgm:spPr/>
    </dgm:pt>
    <dgm:pt modelId="{C31230E8-B376-41A5-8135-752DA3BDB64F}" type="pres">
      <dgm:prSet presAssocID="{5B179B55-6B3D-49BB-A780-8B489A1CF113}" presName="bgRect" presStyleLbl="bgShp" presStyleIdx="1" presStyleCnt="2"/>
      <dgm:spPr/>
    </dgm:pt>
    <dgm:pt modelId="{6A158F99-F889-425A-995A-5F90BB741C2C}" type="pres">
      <dgm:prSet presAssocID="{5B179B55-6B3D-49BB-A780-8B489A1CF113}" presName="iconRect" presStyleLbl="node1" presStyleIdx="1" presStyleCnt="2"/>
      <dgm:spPr/>
    </dgm:pt>
    <dgm:pt modelId="{E3308EAF-BF06-4932-8E07-55D1A072B057}" type="pres">
      <dgm:prSet presAssocID="{5B179B55-6B3D-49BB-A780-8B489A1CF113}" presName="spaceRect" presStyleCnt="0"/>
      <dgm:spPr/>
    </dgm:pt>
    <dgm:pt modelId="{769D002A-DC48-4347-A607-226BCA95B4EA}" type="pres">
      <dgm:prSet presAssocID="{5B179B55-6B3D-49BB-A780-8B489A1CF11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4FC4813-775A-4CB4-89BB-24632AEA179D}" type="presOf" srcId="{2DB81963-6ACD-4136-AB43-8BA95C3890EF}" destId="{99FCB1E8-DF4B-4C65-AC5E-6FB64B6C38EA}" srcOrd="0" destOrd="0" presId="urn:microsoft.com/office/officeart/2018/2/layout/IconVerticalSolidList"/>
    <dgm:cxn modelId="{2BD8483E-CA4C-48C4-8426-5D72E536BCDE}" srcId="{7B48F27B-C318-4031-B54B-EF6AEB9FBD5C}" destId="{2DB81963-6ACD-4136-AB43-8BA95C3890EF}" srcOrd="0" destOrd="0" parTransId="{E04C0D40-D111-4EAD-A1B3-3691A63286FA}" sibTransId="{BE2C443B-D474-44EF-8A58-7D9218DF4C02}"/>
    <dgm:cxn modelId="{9A949E77-830C-4088-9B5E-D49731B0A7F4}" type="presOf" srcId="{5B179B55-6B3D-49BB-A780-8B489A1CF113}" destId="{769D002A-DC48-4347-A607-226BCA95B4EA}" srcOrd="0" destOrd="0" presId="urn:microsoft.com/office/officeart/2018/2/layout/IconVerticalSolidList"/>
    <dgm:cxn modelId="{CE9FD5E3-446C-44C7-BD89-188A1DFB00E5}" srcId="{7B48F27B-C318-4031-B54B-EF6AEB9FBD5C}" destId="{5B179B55-6B3D-49BB-A780-8B489A1CF113}" srcOrd="1" destOrd="0" parTransId="{2080381D-8B35-4344-93CE-4DC28C45F075}" sibTransId="{29116B4C-BA5E-4EAA-80BF-D792AF09C1A4}"/>
    <dgm:cxn modelId="{34473FEB-49A9-40E2-8C0C-6E5E4B8F6BF8}" type="presOf" srcId="{7B48F27B-C318-4031-B54B-EF6AEB9FBD5C}" destId="{B6302325-786B-405D-B0F0-D4C9458FB8C1}" srcOrd="0" destOrd="0" presId="urn:microsoft.com/office/officeart/2018/2/layout/IconVerticalSolidList"/>
    <dgm:cxn modelId="{148144CF-127B-4BE7-B6B1-E7F4939B2A96}" type="presParOf" srcId="{B6302325-786B-405D-B0F0-D4C9458FB8C1}" destId="{2BD8E163-8EF1-4E00-894C-4B838A461CCF}" srcOrd="0" destOrd="0" presId="urn:microsoft.com/office/officeart/2018/2/layout/IconVerticalSolidList"/>
    <dgm:cxn modelId="{9FEB7E65-8F66-4107-BEB9-90E9B201D163}" type="presParOf" srcId="{2BD8E163-8EF1-4E00-894C-4B838A461CCF}" destId="{6967CCE9-BB73-457D-B698-1A621D63514D}" srcOrd="0" destOrd="0" presId="urn:microsoft.com/office/officeart/2018/2/layout/IconVerticalSolidList"/>
    <dgm:cxn modelId="{6BDAC37E-AF9D-4659-81D7-8FF0A33D0A49}" type="presParOf" srcId="{2BD8E163-8EF1-4E00-894C-4B838A461CCF}" destId="{7AB978CB-89DA-4DDC-AE7B-624B0E83812B}" srcOrd="1" destOrd="0" presId="urn:microsoft.com/office/officeart/2018/2/layout/IconVerticalSolidList"/>
    <dgm:cxn modelId="{28ADC08D-2E4B-48D2-81F6-2B933A914169}" type="presParOf" srcId="{2BD8E163-8EF1-4E00-894C-4B838A461CCF}" destId="{57F46F4C-79BC-4A95-BD53-AFAA3EC4A131}" srcOrd="2" destOrd="0" presId="urn:microsoft.com/office/officeart/2018/2/layout/IconVerticalSolidList"/>
    <dgm:cxn modelId="{4F30F143-A094-4022-9E53-0BFDCAEF00A8}" type="presParOf" srcId="{2BD8E163-8EF1-4E00-894C-4B838A461CCF}" destId="{99FCB1E8-DF4B-4C65-AC5E-6FB64B6C38EA}" srcOrd="3" destOrd="0" presId="urn:microsoft.com/office/officeart/2018/2/layout/IconVerticalSolidList"/>
    <dgm:cxn modelId="{92603B0C-2A5F-4455-8E3C-D7E11476AA63}" type="presParOf" srcId="{B6302325-786B-405D-B0F0-D4C9458FB8C1}" destId="{906DFDD0-AF88-44E1-9EEF-B9A9648A91B1}" srcOrd="1" destOrd="0" presId="urn:microsoft.com/office/officeart/2018/2/layout/IconVerticalSolidList"/>
    <dgm:cxn modelId="{035ED2B3-DC71-4136-B89F-BE524D5BBAC5}" type="presParOf" srcId="{B6302325-786B-405D-B0F0-D4C9458FB8C1}" destId="{02C8B886-D1CB-4C8C-9A2F-1F66FD95CAC5}" srcOrd="2" destOrd="0" presId="urn:microsoft.com/office/officeart/2018/2/layout/IconVerticalSolidList"/>
    <dgm:cxn modelId="{E1F62BBF-37DD-4C70-A51A-291ACC1C915D}" type="presParOf" srcId="{02C8B886-D1CB-4C8C-9A2F-1F66FD95CAC5}" destId="{C31230E8-B376-41A5-8135-752DA3BDB64F}" srcOrd="0" destOrd="0" presId="urn:microsoft.com/office/officeart/2018/2/layout/IconVerticalSolidList"/>
    <dgm:cxn modelId="{33BA2EA8-5A75-4526-B5CF-46FB3FD262A8}" type="presParOf" srcId="{02C8B886-D1CB-4C8C-9A2F-1F66FD95CAC5}" destId="{6A158F99-F889-425A-995A-5F90BB741C2C}" srcOrd="1" destOrd="0" presId="urn:microsoft.com/office/officeart/2018/2/layout/IconVerticalSolidList"/>
    <dgm:cxn modelId="{8C9A4EC9-33F5-4B75-BACF-0D429C9F042B}" type="presParOf" srcId="{02C8B886-D1CB-4C8C-9A2F-1F66FD95CAC5}" destId="{E3308EAF-BF06-4932-8E07-55D1A072B057}" srcOrd="2" destOrd="0" presId="urn:microsoft.com/office/officeart/2018/2/layout/IconVerticalSolidList"/>
    <dgm:cxn modelId="{F08496E5-4B9D-417F-99DE-96DFC06D269E}" type="presParOf" srcId="{02C8B886-D1CB-4C8C-9A2F-1F66FD95CAC5}" destId="{769D002A-DC48-4347-A607-226BCA95B4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6939BB-25B5-4CFC-AA4C-72E33A9390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B9D7FC-A918-494D-AF32-5F99AB984C6C}">
      <dgm:prSet/>
      <dgm:spPr/>
      <dgm:t>
        <a:bodyPr/>
        <a:lstStyle/>
        <a:p>
          <a:r>
            <a:rPr lang="en-US"/>
            <a:t>Genera such as Alistipes, Firmicutes_unclassified, Megasphaera, and Ruminococcus were among the strongest predictive signals in this dataset</a:t>
          </a:r>
        </a:p>
      </dgm:t>
    </dgm:pt>
    <dgm:pt modelId="{6B759AA4-2136-4601-B11A-C1F3FCB02E77}" type="parTrans" cxnId="{D39EBC22-3920-4515-B024-EB5F4AD209C3}">
      <dgm:prSet/>
      <dgm:spPr/>
      <dgm:t>
        <a:bodyPr/>
        <a:lstStyle/>
        <a:p>
          <a:endParaRPr lang="en-US"/>
        </a:p>
      </dgm:t>
    </dgm:pt>
    <dgm:pt modelId="{680A04E9-B607-49F7-88C6-FEC485F9D950}" type="sibTrans" cxnId="{D39EBC22-3920-4515-B024-EB5F4AD209C3}">
      <dgm:prSet/>
      <dgm:spPr/>
      <dgm:t>
        <a:bodyPr/>
        <a:lstStyle/>
        <a:p>
          <a:endParaRPr lang="en-US"/>
        </a:p>
      </dgm:t>
    </dgm:pt>
    <dgm:pt modelId="{83DD5E54-CDDF-4FCA-99EB-D5895E23EA3F}">
      <dgm:prSet/>
      <dgm:spPr/>
      <dgm:t>
        <a:bodyPr/>
        <a:lstStyle/>
        <a:p>
          <a:r>
            <a:rPr lang="en-US"/>
            <a:t>These are model-derived importance scores, so they support biological interpretation but do not prove causal relationships</a:t>
          </a:r>
        </a:p>
      </dgm:t>
    </dgm:pt>
    <dgm:pt modelId="{29D672E8-390A-4F59-8F9F-5F819B92C8FF}" type="parTrans" cxnId="{9F5FC0F5-EAD8-4631-B42F-A9683FFA4153}">
      <dgm:prSet/>
      <dgm:spPr/>
      <dgm:t>
        <a:bodyPr/>
        <a:lstStyle/>
        <a:p>
          <a:endParaRPr lang="en-US"/>
        </a:p>
      </dgm:t>
    </dgm:pt>
    <dgm:pt modelId="{261AF70E-95DD-464D-B8A1-35F5B655640D}" type="sibTrans" cxnId="{9F5FC0F5-EAD8-4631-B42F-A9683FFA4153}">
      <dgm:prSet/>
      <dgm:spPr/>
      <dgm:t>
        <a:bodyPr/>
        <a:lstStyle/>
        <a:p>
          <a:endParaRPr lang="en-US"/>
        </a:p>
      </dgm:t>
    </dgm:pt>
    <dgm:pt modelId="{2549FA17-26F1-43CC-B19E-DF1BC40F4C46}" type="pres">
      <dgm:prSet presAssocID="{416939BB-25B5-4CFC-AA4C-72E33A939024}" presName="linear" presStyleCnt="0">
        <dgm:presLayoutVars>
          <dgm:animLvl val="lvl"/>
          <dgm:resizeHandles val="exact"/>
        </dgm:presLayoutVars>
      </dgm:prSet>
      <dgm:spPr/>
    </dgm:pt>
    <dgm:pt modelId="{672A810B-B544-4AF0-BB98-75D301C40F64}" type="pres">
      <dgm:prSet presAssocID="{D9B9D7FC-A918-494D-AF32-5F99AB984C6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76C7347-6B72-409B-B786-B68D890B593E}" type="pres">
      <dgm:prSet presAssocID="{680A04E9-B607-49F7-88C6-FEC485F9D950}" presName="spacer" presStyleCnt="0"/>
      <dgm:spPr/>
    </dgm:pt>
    <dgm:pt modelId="{B2012CAB-BE5C-41DF-B81D-324AA76E8A59}" type="pres">
      <dgm:prSet presAssocID="{83DD5E54-CDDF-4FCA-99EB-D5895E23EA3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39EBC22-3920-4515-B024-EB5F4AD209C3}" srcId="{416939BB-25B5-4CFC-AA4C-72E33A939024}" destId="{D9B9D7FC-A918-494D-AF32-5F99AB984C6C}" srcOrd="0" destOrd="0" parTransId="{6B759AA4-2136-4601-B11A-C1F3FCB02E77}" sibTransId="{680A04E9-B607-49F7-88C6-FEC485F9D950}"/>
    <dgm:cxn modelId="{3E549643-8C69-41CF-AE7E-DA5BEDCEF6C7}" type="presOf" srcId="{83DD5E54-CDDF-4FCA-99EB-D5895E23EA3F}" destId="{B2012CAB-BE5C-41DF-B81D-324AA76E8A59}" srcOrd="0" destOrd="0" presId="urn:microsoft.com/office/officeart/2005/8/layout/vList2"/>
    <dgm:cxn modelId="{A1F0FE74-E242-4183-9D81-8F570CEA1CA1}" type="presOf" srcId="{416939BB-25B5-4CFC-AA4C-72E33A939024}" destId="{2549FA17-26F1-43CC-B19E-DF1BC40F4C46}" srcOrd="0" destOrd="0" presId="urn:microsoft.com/office/officeart/2005/8/layout/vList2"/>
    <dgm:cxn modelId="{9F5FC0F5-EAD8-4631-B42F-A9683FFA4153}" srcId="{416939BB-25B5-4CFC-AA4C-72E33A939024}" destId="{83DD5E54-CDDF-4FCA-99EB-D5895E23EA3F}" srcOrd="1" destOrd="0" parTransId="{29D672E8-390A-4F59-8F9F-5F819B92C8FF}" sibTransId="{261AF70E-95DD-464D-B8A1-35F5B655640D}"/>
    <dgm:cxn modelId="{DCACC6F9-4799-4972-9104-3AC2FDB1FEB0}" type="presOf" srcId="{D9B9D7FC-A918-494D-AF32-5F99AB984C6C}" destId="{672A810B-B544-4AF0-BB98-75D301C40F64}" srcOrd="0" destOrd="0" presId="urn:microsoft.com/office/officeart/2005/8/layout/vList2"/>
    <dgm:cxn modelId="{B8E401D5-1269-4A76-8DE2-56F7EF430DA4}" type="presParOf" srcId="{2549FA17-26F1-43CC-B19E-DF1BC40F4C46}" destId="{672A810B-B544-4AF0-BB98-75D301C40F64}" srcOrd="0" destOrd="0" presId="urn:microsoft.com/office/officeart/2005/8/layout/vList2"/>
    <dgm:cxn modelId="{1DA85E9A-6B3C-49B6-BCD7-B1905A7D69A0}" type="presParOf" srcId="{2549FA17-26F1-43CC-B19E-DF1BC40F4C46}" destId="{A76C7347-6B72-409B-B786-B68D890B593E}" srcOrd="1" destOrd="0" presId="urn:microsoft.com/office/officeart/2005/8/layout/vList2"/>
    <dgm:cxn modelId="{674D387B-2FDB-4FC6-8407-FADBEFCE63AE}" type="presParOf" srcId="{2549FA17-26F1-43CC-B19E-DF1BC40F4C46}" destId="{B2012CAB-BE5C-41DF-B81D-324AA76E8A5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A9BA0-D9A1-48FD-B74A-638CFF65A5A6}">
      <dsp:nvSpPr>
        <dsp:cNvPr id="0" name=""/>
        <dsp:cNvSpPr/>
      </dsp:nvSpPr>
      <dsp:spPr>
        <a:xfrm>
          <a:off x="0" y="64179"/>
          <a:ext cx="5257800" cy="2069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binary target chart shows the actual prediction task used for modeling: IBD vs nonIBD</a:t>
          </a:r>
        </a:p>
      </dsp:txBody>
      <dsp:txXfrm>
        <a:off x="101036" y="165215"/>
        <a:ext cx="5055728" cy="1867658"/>
      </dsp:txXfrm>
    </dsp:sp>
    <dsp:sp modelId="{9B7ADC48-11E3-44C3-BB82-BB1EF4FE6815}">
      <dsp:nvSpPr>
        <dsp:cNvPr id="0" name=""/>
        <dsp:cNvSpPr/>
      </dsp:nvSpPr>
      <dsp:spPr>
        <a:xfrm>
          <a:off x="0" y="2217429"/>
          <a:ext cx="5257800" cy="2069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CD and UC were combined into the positive class IBD, while nonIBD remained the negative class</a:t>
          </a:r>
        </a:p>
      </dsp:txBody>
      <dsp:txXfrm>
        <a:off x="101036" y="2318465"/>
        <a:ext cx="5055728" cy="1867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DD2F0-D01A-44EF-9F34-179E4D890932}">
      <dsp:nvSpPr>
        <dsp:cNvPr id="0" name=""/>
        <dsp:cNvSpPr/>
      </dsp:nvSpPr>
      <dsp:spPr>
        <a:xfrm>
          <a:off x="0" y="50807"/>
          <a:ext cx="1128318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model comparison table evaluates each classifier on the same held-out test set</a:t>
          </a:r>
        </a:p>
      </dsp:txBody>
      <dsp:txXfrm>
        <a:off x="44828" y="95635"/>
        <a:ext cx="11193530" cy="828647"/>
      </dsp:txXfrm>
    </dsp:sp>
    <dsp:sp modelId="{946D56BC-1C00-43F9-BCD1-DDAFEC80AC98}">
      <dsp:nvSpPr>
        <dsp:cNvPr id="0" name=""/>
        <dsp:cNvSpPr/>
      </dsp:nvSpPr>
      <dsp:spPr>
        <a:xfrm>
          <a:off x="0" y="1035351"/>
          <a:ext cx="1128318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Gradient Boosting achieved the best ROC-AUC, while the majority baseline showed why high raw accuracy can be misleading in imbalanced data</a:t>
          </a:r>
        </a:p>
      </dsp:txBody>
      <dsp:txXfrm>
        <a:off x="44828" y="1080179"/>
        <a:ext cx="11193530" cy="828647"/>
      </dsp:txXfrm>
    </dsp:sp>
    <dsp:sp modelId="{7BD1B792-1747-4D4A-9903-D1297D3A87B3}">
      <dsp:nvSpPr>
        <dsp:cNvPr id="0" name=""/>
        <dsp:cNvSpPr/>
      </dsp:nvSpPr>
      <dsp:spPr>
        <a:xfrm>
          <a:off x="0" y="2019895"/>
          <a:ext cx="1128318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table supports choosing the final model based on recall, specificity, balanced accuracy, and ranking performance rather than accuracy alone</a:t>
          </a:r>
        </a:p>
      </dsp:txBody>
      <dsp:txXfrm>
        <a:off x="44828" y="2064723"/>
        <a:ext cx="11193530" cy="8286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12E90-919E-4FA0-B574-AF996E527993}">
      <dsp:nvSpPr>
        <dsp:cNvPr id="0" name=""/>
        <dsp:cNvSpPr/>
      </dsp:nvSpPr>
      <dsp:spPr>
        <a:xfrm>
          <a:off x="0" y="62258"/>
          <a:ext cx="5080078" cy="16204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threshold tuning table shows how changing the classification cutoff changes recall and specificity</a:t>
          </a:r>
        </a:p>
      </dsp:txBody>
      <dsp:txXfrm>
        <a:off x="79106" y="141364"/>
        <a:ext cx="4921866" cy="1462274"/>
      </dsp:txXfrm>
    </dsp:sp>
    <dsp:sp modelId="{912CD193-3555-45D5-9228-E4CCD6B0152D}">
      <dsp:nvSpPr>
        <dsp:cNvPr id="0" name=""/>
        <dsp:cNvSpPr/>
      </dsp:nvSpPr>
      <dsp:spPr>
        <a:xfrm>
          <a:off x="0" y="1748985"/>
          <a:ext cx="5080078" cy="16204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default threshold favored very high IBD recall but weak nonIBD specificity</a:t>
          </a:r>
        </a:p>
      </dsp:txBody>
      <dsp:txXfrm>
        <a:off x="79106" y="1828091"/>
        <a:ext cx="4921866" cy="1462274"/>
      </dsp:txXfrm>
    </dsp:sp>
    <dsp:sp modelId="{5035F747-E167-4F68-B1C1-812FBEF2F54D}">
      <dsp:nvSpPr>
        <dsp:cNvPr id="0" name=""/>
        <dsp:cNvSpPr/>
      </dsp:nvSpPr>
      <dsp:spPr>
        <a:xfrm>
          <a:off x="0" y="3435711"/>
          <a:ext cx="5080078" cy="16204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tuned threshold of 0.67 produced a more balanced tradeoff, making the final model more clinically interpretable</a:t>
          </a:r>
        </a:p>
      </dsp:txBody>
      <dsp:txXfrm>
        <a:off x="79106" y="3514817"/>
        <a:ext cx="4921866" cy="14622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9B2B0-AFC7-4D88-811E-A131960E856E}">
      <dsp:nvSpPr>
        <dsp:cNvPr id="0" name=""/>
        <dsp:cNvSpPr/>
      </dsp:nvSpPr>
      <dsp:spPr>
        <a:xfrm>
          <a:off x="0" y="131135"/>
          <a:ext cx="4680284" cy="2683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It records 29 true negatives, 20 false positives, 52 false negatives, and 204 true positives</a:t>
          </a:r>
        </a:p>
      </dsp:txBody>
      <dsp:txXfrm>
        <a:off x="131021" y="262156"/>
        <a:ext cx="4418242" cy="2421937"/>
      </dsp:txXfrm>
    </dsp:sp>
    <dsp:sp modelId="{E24C2531-EA97-42C8-BB9C-0B47BE5513B1}">
      <dsp:nvSpPr>
        <dsp:cNvPr id="0" name=""/>
        <dsp:cNvSpPr/>
      </dsp:nvSpPr>
      <dsp:spPr>
        <a:xfrm>
          <a:off x="0" y="2904395"/>
          <a:ext cx="4680284" cy="2683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This figure gives the clearest single summary of the model's real classification behavior after threshold tuning</a:t>
          </a:r>
        </a:p>
      </dsp:txBody>
      <dsp:txXfrm>
        <a:off x="131021" y="3035416"/>
        <a:ext cx="4418242" cy="24219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7CCE9-BB73-457D-B698-1A621D63514D}">
      <dsp:nvSpPr>
        <dsp:cNvPr id="0" name=""/>
        <dsp:cNvSpPr/>
      </dsp:nvSpPr>
      <dsp:spPr>
        <a:xfrm>
          <a:off x="0" y="882168"/>
          <a:ext cx="4980709" cy="16286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978CB-89DA-4DDC-AE7B-624B0E83812B}">
      <dsp:nvSpPr>
        <dsp:cNvPr id="0" name=""/>
        <dsp:cNvSpPr/>
      </dsp:nvSpPr>
      <dsp:spPr>
        <a:xfrm>
          <a:off x="781417" y="1312778"/>
          <a:ext cx="895740" cy="8957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CB1E8-DF4B-4C65-AC5E-6FB64B6C38EA}">
      <dsp:nvSpPr>
        <dsp:cNvPr id="0" name=""/>
        <dsp:cNvSpPr/>
      </dsp:nvSpPr>
      <dsp:spPr>
        <a:xfrm>
          <a:off x="1881054" y="882168"/>
          <a:ext cx="3099654" cy="1628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362" tIns="172362" rIns="172362" bIns="172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Gradient Boosting model achieved an ROC-AUC of about 0.76, which indicates meaningful discrimination above random guessing</a:t>
          </a:r>
        </a:p>
      </dsp:txBody>
      <dsp:txXfrm>
        <a:off x="1881054" y="882168"/>
        <a:ext cx="3099654" cy="1628619"/>
      </dsp:txXfrm>
    </dsp:sp>
    <dsp:sp modelId="{C31230E8-B376-41A5-8135-752DA3BDB64F}">
      <dsp:nvSpPr>
        <dsp:cNvPr id="0" name=""/>
        <dsp:cNvSpPr/>
      </dsp:nvSpPr>
      <dsp:spPr>
        <a:xfrm>
          <a:off x="0" y="2917942"/>
          <a:ext cx="4980709" cy="16286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58F99-F889-425A-995A-5F90BB741C2C}">
      <dsp:nvSpPr>
        <dsp:cNvPr id="0" name=""/>
        <dsp:cNvSpPr/>
      </dsp:nvSpPr>
      <dsp:spPr>
        <a:xfrm>
          <a:off x="492657" y="3284381"/>
          <a:ext cx="895740" cy="8957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D002A-DC48-4347-A607-226BCA95B4EA}">
      <dsp:nvSpPr>
        <dsp:cNvPr id="0" name=""/>
        <dsp:cNvSpPr/>
      </dsp:nvSpPr>
      <dsp:spPr>
        <a:xfrm>
          <a:off x="1881054" y="2917942"/>
          <a:ext cx="3099654" cy="1628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362" tIns="172362" rIns="172362" bIns="172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curve is useful because it evaluates ranking quality independently of the final chosen threshold</a:t>
          </a:r>
        </a:p>
      </dsp:txBody>
      <dsp:txXfrm>
        <a:off x="1881054" y="2917942"/>
        <a:ext cx="3099654" cy="16286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A810B-B544-4AF0-BB98-75D301C40F64}">
      <dsp:nvSpPr>
        <dsp:cNvPr id="0" name=""/>
        <dsp:cNvSpPr/>
      </dsp:nvSpPr>
      <dsp:spPr>
        <a:xfrm>
          <a:off x="0" y="109279"/>
          <a:ext cx="5701145" cy="242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Genera such as Alistipes, Firmicutes_unclassified, Megasphaera, and Ruminococcus were among the strongest predictive signals in this dataset</a:t>
          </a:r>
        </a:p>
      </dsp:txBody>
      <dsp:txXfrm>
        <a:off x="118342" y="227621"/>
        <a:ext cx="5464461" cy="2187556"/>
      </dsp:txXfrm>
    </dsp:sp>
    <dsp:sp modelId="{B2012CAB-BE5C-41DF-B81D-324AA76E8A59}">
      <dsp:nvSpPr>
        <dsp:cNvPr id="0" name=""/>
        <dsp:cNvSpPr/>
      </dsp:nvSpPr>
      <dsp:spPr>
        <a:xfrm>
          <a:off x="0" y="2614159"/>
          <a:ext cx="5701145" cy="242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These are model-derived importance scores, so they support biological interpretation but do not prove causal relationships</a:t>
          </a:r>
        </a:p>
      </dsp:txBody>
      <dsp:txXfrm>
        <a:off x="118342" y="2732501"/>
        <a:ext cx="5464461" cy="2187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1A07-6E4C-1E3C-F1E9-5E902EE3F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43C8B-D7A3-8FAA-705C-D7BC26409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2DDA-2AAB-E0E4-6761-5CE2EEF9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BB7D-657F-6192-4BF9-1AFB5BAB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B697-CB42-9899-CB2F-D57682B3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5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3A5F-F8EA-37FA-EABA-4856274F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D889-1E5F-ECC4-ABAE-276CAB5C8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C429F-65D9-5276-4C62-C68A670C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B3FB9-1CF8-BFEF-2F6E-378371CB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FEF5-F71B-A1CD-4DF1-AB0ACD4F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4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4054-A117-8393-4D6B-9C7DA9D7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AD2E7-AD60-2ECB-F7DF-7D379804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61C7-77EF-87EB-2CBE-6924C356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B368E-C0A2-4EF3-A687-D664482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382F-F3B3-9629-811F-7805FB402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3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1D5F-AD3D-0908-F784-E82D6EBB5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23AE4-A05A-40D9-D1F6-FB42B1B9E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FAC46-99A8-F3A6-784F-D69565FCC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DE00-241D-630C-94B2-226E22E2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F1A4-33FB-AC5D-58B7-7F7A1DF7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8C70A-F454-233B-02CA-E53070BA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3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E4C8-6C4D-E4FF-E27E-FDAB262B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790AE-9438-FC32-4DC7-862DF2D0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A5C84-49A7-C721-584F-1416D0A04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B2D7B-1C08-16C8-A2D1-A2257D023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0CC74-8CCC-2BC8-F18B-C8D8EB1BE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96528-D3B6-EF51-1CB7-432046C3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2DD18-A7BB-4E26-19EF-FE3B1080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1BA50-B125-CCF2-61EB-B9D451DD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4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B76E-FA2F-05AC-3B84-D95D7721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39819-6B8E-D60B-4687-A5F05147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A9394-D4EC-28D9-D1E2-B0890E18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9611C-F534-9711-1191-F954E1BE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2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10360-96C8-87D2-FB86-F4A344DE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83E7D-E7A1-A59B-0789-15C2737C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D6BBA-9983-6D67-E45A-D97FA506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2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C73C-0CFC-4FA8-6327-853229FE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B08E-7587-ED9B-8CB1-7B009E136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55109-1A45-4250-90FB-AB05C30A3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E3327-FB0B-B1DE-5F7A-FD3F3686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43D8B-8C54-0937-AB4B-1AEBC04D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4F938-3893-6FB9-0925-AF095760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5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941D-BBC0-ECFA-086C-95128CA6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4C61B-D408-004F-D05A-789BF3DD1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0EE7C-B8F3-460C-B521-03B44129E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F27E8-AB6A-F0CC-DA89-8C76CBDC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10232-6FA6-C77D-7F39-1526C9FB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25755-A309-D0F7-11E0-11456E4D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9AE7-D8EB-3EA6-253E-775C5878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453C8-B60A-3710-B4B1-DD3727F14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7BFB8-4AE3-CD82-DBF5-09CF817C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B868-FF41-08AE-6A96-450FAE7C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D785-DDCF-C78B-B3EB-9FF8C703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1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B7928-8383-2A0C-21B8-341846B7F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F0EA8-5CEA-65B4-6823-5697E26D3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2925-BF32-1A1E-D20E-A31D531D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35399-8EE6-DF95-37B7-50E88D58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CDEA3-8B88-BB38-8B80-5ECCD15E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6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CB457-3D9D-D032-0BB0-F2D7B7C5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3200-5C13-AD97-0541-F4DE24180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BFCE-C7D1-47B1-4BE6-94A0776ED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52DC7-3CEE-4EA9-AE1D-457DBB57BC5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E8946-5CB4-67DA-A5AE-EC68D4E8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C208-903B-06E0-3F77-A3D8A8A4C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60DB5-AB35-4F0C-B4BA-407E85F5C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2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0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3A518-E45A-66E6-78B0-EC4DC1ED2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Classification of Inflammatory Bowel Disease Using Microbial Taxonomic Abundance</a:t>
            </a: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A1F13D5-6C40-E854-3D4C-71D7DA32B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Final dataset: HMP2 / IBDMDB metagenomic taxonomic profiles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Final prediction task: binary IBD vs </a:t>
            </a:r>
            <a:r>
              <a:rPr lang="en-US"/>
              <a:t>nonIBD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 Contributor: Hamza Salahuddin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8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42F8-3E2D-76A3-5401-97FBA2D4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0" y="-37537"/>
            <a:ext cx="10515600" cy="1325563"/>
          </a:xfrm>
        </p:spPr>
        <p:txBody>
          <a:bodyPr/>
          <a:lstStyle/>
          <a:p>
            <a:r>
              <a:rPr lang="en-US" b="1" dirty="0"/>
              <a:t>Problem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A257-197F-CB29-53CB-94751F910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914400"/>
            <a:ext cx="1101691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IBD includes Crohn's disease and ulcerative colitis</a:t>
            </a:r>
          </a:p>
          <a:p>
            <a:r>
              <a:rPr lang="en-US" dirty="0"/>
              <a:t>Diagnosis can require invasive and expensive procedures</a:t>
            </a:r>
          </a:p>
          <a:p>
            <a:r>
              <a:rPr lang="en-US" dirty="0"/>
              <a:t>Gut microbiome profiles may provide useful non-invasive screening support</a:t>
            </a:r>
          </a:p>
          <a:p>
            <a:r>
              <a:rPr lang="en-US" dirty="0"/>
              <a:t>Project goal: test whether microbial taxonomic abundance can classify IBD vs </a:t>
            </a:r>
            <a:r>
              <a:rPr lang="en-US" dirty="0" err="1"/>
              <a:t>nonIBD</a:t>
            </a:r>
            <a:endParaRPr lang="en-US" dirty="0"/>
          </a:p>
          <a:p>
            <a:r>
              <a:rPr lang="en-US" dirty="0"/>
              <a:t>Clinical priority: missing true IBD cases is more costly than flagging extra follow-up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17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5F61-51EC-A9DC-48B5-BA7E30E9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0"/>
            <a:ext cx="10515600" cy="1325563"/>
          </a:xfrm>
        </p:spPr>
        <p:txBody>
          <a:bodyPr/>
          <a:lstStyle/>
          <a:p>
            <a:r>
              <a:rPr lang="en-US" b="1" dirty="0"/>
              <a:t>Milestone 1 Retrospective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D5796-5D43-F906-D89B-8A19F0982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962526"/>
            <a:ext cx="11113168" cy="52144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Original milestone direction used a smaller </a:t>
            </a:r>
            <a:r>
              <a:rPr lang="en-US" sz="3200" dirty="0" err="1"/>
              <a:t>MLRepo</a:t>
            </a:r>
            <a:r>
              <a:rPr lang="en-US" sz="3200" dirty="0"/>
              <a:t>-style microbiome dataset</a:t>
            </a:r>
          </a:p>
          <a:p>
            <a:r>
              <a:rPr lang="en-US" sz="3200" dirty="0"/>
              <a:t>Recovered working subset: 74 merged samples and 3,677 microbial features</a:t>
            </a:r>
          </a:p>
          <a:p>
            <a:r>
              <a:rPr lang="en-US" sz="3200" dirty="0"/>
              <a:t>Label counts: 59 Crohn's disease and 15 Healthy</a:t>
            </a:r>
          </a:p>
          <a:p>
            <a:r>
              <a:rPr lang="en-US" sz="3200" dirty="0"/>
              <a:t>Milestone 1 established feasibility, basic EDA, and the project motivation</a:t>
            </a:r>
          </a:p>
          <a:p>
            <a:r>
              <a:rPr lang="en-US" sz="3200" dirty="0"/>
              <a:t>Main limitation: too few samples for a strong final claim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505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A43A-8096-FA0D-FAD0-6C9167A9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Dataset Pivot After Milestone 2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AE6A-F008-530A-A636-112494D37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811" y="898358"/>
            <a:ext cx="10663989" cy="52786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Final dataset changed to HMP2 / IBDMDB for stronger evidence and better metadata</a:t>
            </a:r>
          </a:p>
          <a:p>
            <a:r>
              <a:rPr lang="en-US" dirty="0"/>
              <a:t>Lloyd-Price et al. (2019) justified the HMP2 / IBDMDB dataset and showed strong IBD-associated microbial dysbiosis</a:t>
            </a:r>
          </a:p>
          <a:p>
            <a:endParaRPr lang="en-US" dirty="0"/>
          </a:p>
          <a:p>
            <a:r>
              <a:rPr lang="en-US" dirty="0"/>
              <a:t>Source files used:</a:t>
            </a:r>
          </a:p>
          <a:p>
            <a:r>
              <a:rPr lang="en-US" dirty="0"/>
              <a:t>hmp2_metadata_2018-08-20.csv</a:t>
            </a:r>
          </a:p>
          <a:p>
            <a:r>
              <a:rPr lang="en-US" dirty="0"/>
              <a:t>taxonomic_profiles_3.tsv.gz</a:t>
            </a:r>
          </a:p>
          <a:p>
            <a:r>
              <a:rPr lang="en-US" dirty="0"/>
              <a:t>Final merged modeling table: 1,638 samples from 130 participants</a:t>
            </a:r>
          </a:p>
          <a:p>
            <a:r>
              <a:rPr lang="en-US" dirty="0"/>
              <a:t>Diagnosis counts: 750 CD, 459 UC, 429 </a:t>
            </a:r>
            <a:r>
              <a:rPr lang="en-US" dirty="0" err="1"/>
              <a:t>nonIBD</a:t>
            </a:r>
            <a:endParaRPr lang="en-US" dirty="0"/>
          </a:p>
          <a:p>
            <a:r>
              <a:rPr lang="en-US" dirty="0"/>
              <a:t>Final target: binary IBD vs </a:t>
            </a:r>
            <a:r>
              <a:rPr lang="en-US" dirty="0" err="1"/>
              <a:t>nonIBD</a:t>
            </a:r>
            <a:r>
              <a:rPr lang="en-US" dirty="0"/>
              <a:t>, with CD and UC collapsed into IBD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16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D8F5-1439-8320-D1A3-0ED6E1B4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54818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Preprocessing and Leakage Control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970DE-DD80-DFB9-C4CB-DC4C67CC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Kept metagenomics samples only</a:t>
            </a:r>
          </a:p>
          <a:p>
            <a:r>
              <a:rPr lang="en-US" dirty="0"/>
              <a:t>Morgan et al. (2012) and Gevers et al. (2014) supported the biological plausibility of microbiome-based IBD classification</a:t>
            </a:r>
          </a:p>
          <a:p>
            <a:r>
              <a:rPr lang="en-US" dirty="0"/>
              <a:t>Merged metadata and taxonomy by sample ID</a:t>
            </a:r>
          </a:p>
          <a:p>
            <a:r>
              <a:rPr lang="en-US" dirty="0"/>
              <a:t>Used genus-level features for interpretability</a:t>
            </a:r>
          </a:p>
          <a:p>
            <a:r>
              <a:rPr lang="en-US" dirty="0"/>
              <a:t>Raw genus features: 187</a:t>
            </a:r>
          </a:p>
          <a:p>
            <a:r>
              <a:rPr lang="en-US" dirty="0"/>
              <a:t>Selected features after training-only prevalence filtering: 78</a:t>
            </a:r>
          </a:p>
          <a:p>
            <a:r>
              <a:rPr lang="en-US" dirty="0"/>
              <a:t>Applied log1p transformation to reduce skew and sparsity</a:t>
            </a:r>
          </a:p>
          <a:p>
            <a:r>
              <a:rPr lang="en-US" dirty="0"/>
              <a:t>Used participant-aware train/test split to prevent leakage</a:t>
            </a:r>
          </a:p>
          <a:p>
            <a:r>
              <a:rPr lang="en-US" dirty="0"/>
              <a:t>Train/test split: 1,333 train samples and 305 test samples</a:t>
            </a:r>
          </a:p>
          <a:p>
            <a:r>
              <a:rPr lang="en-US" dirty="0"/>
              <a:t>Participant overlap between train and test: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9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81DE-5183-EB42-E0C0-B5297322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5" y="122666"/>
            <a:ext cx="10515600" cy="1325563"/>
          </a:xfrm>
        </p:spPr>
        <p:txBody>
          <a:bodyPr/>
          <a:lstStyle/>
          <a:p>
            <a:r>
              <a:rPr lang="en-US" b="1" dirty="0"/>
              <a:t>Sample Counts by Diagnosis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44942-0199-CA72-0E62-FEA996799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63" y="933731"/>
            <a:ext cx="4022557" cy="5035577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The diagnosis count chart shows the original three-label composition of the final HMP2 dataset</a:t>
            </a:r>
          </a:p>
          <a:p>
            <a:r>
              <a:rPr lang="en-US" sz="3200" dirty="0"/>
              <a:t>Crohn's disease is the largest group, followed by ulcerative colitis, then </a:t>
            </a:r>
            <a:r>
              <a:rPr lang="en-US" sz="3200" dirty="0" err="1"/>
              <a:t>nonIBD</a:t>
            </a:r>
            <a:r>
              <a:rPr lang="en-US" sz="3200" dirty="0"/>
              <a:t> controls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696F5-A913-D46E-027A-E6E0CF69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454" y="1028339"/>
            <a:ext cx="6123709" cy="388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1E485-93A5-2D0D-6D72-1A8F8C6110D9}"/>
              </a:ext>
            </a:extLst>
          </p:cNvPr>
          <p:cNvSpPr txBox="1"/>
          <p:nvPr/>
        </p:nvSpPr>
        <p:spPr>
          <a:xfrm>
            <a:off x="5454316" y="4909562"/>
            <a:ext cx="67376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chart shows why the raw data are naturally imbalanced before collapsing to the binary target</a:t>
            </a:r>
          </a:p>
        </p:txBody>
      </p:sp>
    </p:spTree>
    <p:extLst>
      <p:ext uri="{BB962C8B-B14F-4D97-AF65-F5344CB8AC3E}">
        <p14:creationId xmlns:p14="http://schemas.microsoft.com/office/powerpoint/2010/main" val="1739046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CA1F-3245-4463-1098-9C1D3E90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248407"/>
            <a:ext cx="10515600" cy="1325563"/>
          </a:xfrm>
        </p:spPr>
        <p:txBody>
          <a:bodyPr/>
          <a:lstStyle/>
          <a:p>
            <a:r>
              <a:rPr lang="en-US" b="1" dirty="0"/>
              <a:t>Binary Target Counts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D6ACC2A-4058-2C41-788B-68B48F0796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9400" y="1253331"/>
          <a:ext cx="5257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DEFF1ED-BD34-59FC-322D-1E1F3C4266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200" y="1025236"/>
            <a:ext cx="5586600" cy="3332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F19E2B-98CF-751F-3203-7D256A27F77A}"/>
              </a:ext>
            </a:extLst>
          </p:cNvPr>
          <p:cNvSpPr txBox="1"/>
          <p:nvPr/>
        </p:nvSpPr>
        <p:spPr>
          <a:xfrm>
            <a:off x="5659281" y="4332072"/>
            <a:ext cx="653271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chart confirms that IBD is the majority class, which is why accuracy alone is not enough for evaluation</a:t>
            </a:r>
          </a:p>
        </p:txBody>
      </p:sp>
    </p:spTree>
    <p:extLst>
      <p:ext uri="{BB962C8B-B14F-4D97-AF65-F5344CB8AC3E}">
        <p14:creationId xmlns:p14="http://schemas.microsoft.com/office/powerpoint/2010/main" val="98076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BAAE-81AB-A1FD-6F50-EDCB153A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54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PCA of Genus-Level Microbiome Abundance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80B53-33E8-607B-EDA2-70693A299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6146" y="689811"/>
            <a:ext cx="5867400" cy="6168189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r>
              <a:rPr lang="en-US" sz="3200" dirty="0"/>
              <a:t>The groups show overlap, which means the classification problem is not trivially separable by eye</a:t>
            </a:r>
          </a:p>
          <a:p>
            <a:r>
              <a:rPr lang="en-US" sz="3200" dirty="0"/>
              <a:t>Even with overlap, the spread suggests there is still structure in the microbiome data that supervised models can learn from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3480C-DBBE-BF60-7A47-956D1C63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254" y="689811"/>
            <a:ext cx="6420746" cy="4563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F09379-2D4A-CDA1-166D-1F1CE0451D4E}"/>
              </a:ext>
            </a:extLst>
          </p:cNvPr>
          <p:cNvSpPr txBox="1"/>
          <p:nvPr/>
        </p:nvSpPr>
        <p:spPr>
          <a:xfrm>
            <a:off x="5951621" y="5270631"/>
            <a:ext cx="55825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PCA scatter plot projects high-dimensional genus abundance data into two principal components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145401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223C-3846-09DA-411E-828FDE875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93407"/>
            <a:ext cx="10515600" cy="1325563"/>
          </a:xfrm>
        </p:spPr>
        <p:txBody>
          <a:bodyPr/>
          <a:lstStyle/>
          <a:p>
            <a:r>
              <a:rPr lang="en-US" b="1" dirty="0"/>
              <a:t> Model Comparison Table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8E9A188-84E5-9BBA-FBD6-B739CA72B8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5691" y="3775586"/>
          <a:ext cx="11283186" cy="2989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B2EB702-D2DA-0142-6381-075F6F0E3E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92" y="904444"/>
            <a:ext cx="11165885" cy="277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93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2228-B187-FBB5-A627-CA121443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87" y="135150"/>
            <a:ext cx="10515600" cy="1325563"/>
          </a:xfrm>
        </p:spPr>
        <p:txBody>
          <a:bodyPr/>
          <a:lstStyle/>
          <a:p>
            <a:r>
              <a:rPr lang="en-US" b="1" dirty="0"/>
              <a:t>Threshold Tuning Summary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BC0131F-5F3F-1C14-C2F0-3AC8457A92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52441" y="609599"/>
          <a:ext cx="5080079" cy="5118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0731A8B-5EE1-33C5-D0C4-131E6DAB4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087" y="5728057"/>
            <a:ext cx="10698068" cy="971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BD9A9-7E8E-04BD-96BA-2FC21CFC01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722" y="797931"/>
            <a:ext cx="6633719" cy="474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4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C304-19DC-0BD2-FB8D-0ADB7D15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6" y="140536"/>
            <a:ext cx="10515600" cy="1325563"/>
          </a:xfrm>
        </p:spPr>
        <p:txBody>
          <a:bodyPr/>
          <a:lstStyle/>
          <a:p>
            <a:r>
              <a:rPr lang="en-US" b="1" dirty="0"/>
              <a:t>Confusion Matrix with Tuned Threshold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2BE0EC0-5DB8-3DBE-4236-3BC1C6BF04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1467" y="857751"/>
          <a:ext cx="4680284" cy="5719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33D1A2E-A636-D39D-1109-E3E52657C9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0" y="1027906"/>
            <a:ext cx="5985165" cy="4096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E5209-B951-1BBF-6B12-E854FD07C971}"/>
              </a:ext>
            </a:extLst>
          </p:cNvPr>
          <p:cNvSpPr txBox="1"/>
          <p:nvPr/>
        </p:nvSpPr>
        <p:spPr>
          <a:xfrm>
            <a:off x="5031752" y="5174307"/>
            <a:ext cx="64473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confusion matrix shows the final tuned Gradient Boosting predictions on the untouched test set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955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F8A9-F5EE-B108-66C8-BB4B3C8B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09" y="68103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ROC Curve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323EB72-E868-0257-97F9-45E3B3BA0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980121"/>
              </p:ext>
            </p:extLst>
          </p:nvPr>
        </p:nvGraphicFramePr>
        <p:xfrm>
          <a:off x="422565" y="1004154"/>
          <a:ext cx="4980709" cy="5428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AD8E9F7-74D0-1635-CD66-9B4EC38342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8909" y="254292"/>
            <a:ext cx="6068291" cy="4532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AC633-3A58-CB56-4C7C-599602984E94}"/>
              </a:ext>
            </a:extLst>
          </p:cNvPr>
          <p:cNvSpPr txBox="1"/>
          <p:nvPr/>
        </p:nvSpPr>
        <p:spPr>
          <a:xfrm>
            <a:off x="5541819" y="4710545"/>
            <a:ext cx="58119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ROC curve shows the tradeoff between true positive rate and false positive rate across all possible thresholds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79494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F81F-7CF8-6ECE-BC94-BE67FC2E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5" y="129381"/>
            <a:ext cx="10515600" cy="1325563"/>
          </a:xfrm>
        </p:spPr>
        <p:txBody>
          <a:bodyPr/>
          <a:lstStyle/>
          <a:p>
            <a:r>
              <a:rPr lang="en-US" b="1" dirty="0"/>
              <a:t>Precision-Recall Curve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AB703-309D-EE77-8FF0-3541CCDAA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5479473" cy="5273675"/>
          </a:xfrm>
        </p:spPr>
        <p:txBody>
          <a:bodyPr>
            <a:normAutofit/>
          </a:bodyPr>
          <a:lstStyle/>
          <a:p>
            <a:r>
              <a:rPr lang="en-US" sz="3200" dirty="0"/>
              <a:t>It is especially useful in imbalanced classification because it focuses on positive-class detection quality</a:t>
            </a:r>
          </a:p>
          <a:p>
            <a:r>
              <a:rPr lang="en-US" sz="3200" dirty="0"/>
              <a:t>The high average precision indicates that the model maintains strong precision across a broad range of recall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C1BE7-520C-2945-7314-34705AF6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28"/>
          <a:stretch>
            <a:fillRect/>
          </a:stretch>
        </p:blipFill>
        <p:spPr>
          <a:xfrm>
            <a:off x="6201522" y="365125"/>
            <a:ext cx="5479473" cy="4290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322395-54C4-5CE0-3EF2-FD0ACCE1FA69}"/>
              </a:ext>
            </a:extLst>
          </p:cNvPr>
          <p:cNvSpPr txBox="1"/>
          <p:nvPr/>
        </p:nvSpPr>
        <p:spPr>
          <a:xfrm>
            <a:off x="6317673" y="4655127"/>
            <a:ext cx="54794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precision-recall curve shows how precision changes as recall changes across thresholds for the IBD class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32287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6A4C-4560-8812-ED07-55165BE2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7" y="6453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 Genus-Level Features: Gradient Boosting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6051332-6AB6-402C-827C-9055B1C899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3257" y="1479262"/>
          <a:ext cx="5701145" cy="5147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9836B33-1B39-659C-C0F0-B4CDC5C893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7689" y="926023"/>
            <a:ext cx="6325654" cy="4736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561E0-DF89-03D6-6622-221C5D5448D0}"/>
              </a:ext>
            </a:extLst>
          </p:cNvPr>
          <p:cNvSpPr txBox="1"/>
          <p:nvPr/>
        </p:nvSpPr>
        <p:spPr>
          <a:xfrm>
            <a:off x="5938684" y="5840361"/>
            <a:ext cx="61746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feature importance chart identifies the genera that contributed most to the final Gradient Boosting predictions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141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65945-826C-CFCB-C69D-5B28309A9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288" y="1050595"/>
            <a:ext cx="8074815" cy="1618489"/>
          </a:xfrm>
        </p:spPr>
        <p:txBody>
          <a:bodyPr anchor="ctr">
            <a:normAutofit fontScale="90000"/>
          </a:bodyPr>
          <a:lstStyle/>
          <a:p>
            <a:r>
              <a:rPr lang="en-US" sz="2800" b="1" dirty="0"/>
              <a:t> Orange Visualization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7FED2-36EC-F4A2-42FA-83AF4FBAD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800" y="2135672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Orange was used as a supporting comparison environment for the exported final dataset</a:t>
            </a:r>
          </a:p>
          <a:p>
            <a:r>
              <a:rPr lang="en-US" sz="2400" dirty="0"/>
              <a:t>The same binary target and selected microbial features were used to compare standard classifiers visually</a:t>
            </a:r>
          </a:p>
          <a:p>
            <a:r>
              <a:rPr lang="en-US" sz="2400" dirty="0"/>
              <a:t>Orange results serve as an extra validation layer and presentation-friendly comparison, not the primary final model source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9159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14558-396A-985F-5BCD-BE8600D61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474" y="36395"/>
            <a:ext cx="5618998" cy="258117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F9CA69-39AA-FFFE-0A43-F7EEFD0FE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24" y="2637032"/>
            <a:ext cx="7127710" cy="3766069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C17D37D4-9C8F-6C1F-CE83-A7C7C11BE867}"/>
              </a:ext>
            </a:extLst>
          </p:cNvPr>
          <p:cNvCxnSpPr>
            <a:cxnSpLocks/>
          </p:cNvCxnSpPr>
          <p:nvPr/>
        </p:nvCxnSpPr>
        <p:spPr>
          <a:xfrm flipV="1">
            <a:off x="5929466" y="2653963"/>
            <a:ext cx="3342550" cy="1586470"/>
          </a:xfrm>
          <a:prstGeom prst="curvedConnector3">
            <a:avLst>
              <a:gd name="adj1" fmla="val 1014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7AC823-B304-D641-758B-B9250BB4AE53}"/>
              </a:ext>
            </a:extLst>
          </p:cNvPr>
          <p:cNvSpPr txBox="1"/>
          <p:nvPr/>
        </p:nvSpPr>
        <p:spPr>
          <a:xfrm>
            <a:off x="1245487" y="1088454"/>
            <a:ext cx="290779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Orange</a:t>
            </a:r>
            <a:r>
              <a:rPr lang="en-US" sz="2500" b="1" dirty="0">
                <a:latin typeface="+mj-lt"/>
              </a:rPr>
              <a:t> Results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3011714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E25F-A121-9DC5-C2F2-1BE796D9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16" y="738957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4800" dirty="0"/>
              <a:t>Literature connection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D10D7-2AD5-4E6C-3FAD-21D94E41C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016" y="1548201"/>
            <a:ext cx="10540349" cy="431585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Lloyd-Price et al. (2019) justified the HMP2 / IBDMDB dataset and showed strong IBD-associated microbial dysbiosis</a:t>
            </a:r>
          </a:p>
          <a:p>
            <a:r>
              <a:rPr lang="en-US" sz="2400" dirty="0"/>
              <a:t>Morgan et al. (2012) and Gevers et al. (2014) supported the biological plausibility of microbiome-based IBD classification</a:t>
            </a:r>
          </a:p>
          <a:p>
            <a:r>
              <a:rPr lang="en-US" sz="2400" dirty="0"/>
              <a:t>Manandhar et al. (2021) supported supervised ML for IBD microbiome prediction</a:t>
            </a:r>
          </a:p>
          <a:p>
            <a:r>
              <a:rPr lang="en-US" sz="2400" dirty="0"/>
              <a:t>Nguyen et al. (2022) motivated careful validation and cautious claims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4609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070B0-56E2-3AA9-CD01-EFA77688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22" y="754032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 dirty="0"/>
              <a:t>Conclusion and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9498-F771-052B-3FE9-8F736673A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22" y="2372521"/>
            <a:ext cx="9621520" cy="3519033"/>
          </a:xfrm>
        </p:spPr>
        <p:txBody>
          <a:bodyPr anchor="t">
            <a:normAutofit fontScale="92500"/>
          </a:bodyPr>
          <a:lstStyle/>
          <a:p>
            <a:r>
              <a:rPr lang="en-US" sz="2400" dirty="0"/>
              <a:t>Microbial taxonomic abundance contains useful predictive signal for IBD vs </a:t>
            </a:r>
            <a:r>
              <a:rPr lang="en-US" sz="2400" dirty="0" err="1"/>
              <a:t>nonIBD</a:t>
            </a:r>
            <a:r>
              <a:rPr lang="en-US" sz="2400" dirty="0"/>
              <a:t> classification</a:t>
            </a:r>
          </a:p>
          <a:p>
            <a:r>
              <a:rPr lang="en-US" sz="2400" dirty="0"/>
              <a:t>Gradient Boosting gave the strongest ranking performance in this pipeline</a:t>
            </a:r>
          </a:p>
          <a:p>
            <a:r>
              <a:rPr lang="en-US" sz="2400" dirty="0"/>
              <a:t>Threshold tuning improved the tradeoff between IBD recall and </a:t>
            </a:r>
            <a:r>
              <a:rPr lang="en-US" sz="2400" dirty="0" err="1"/>
              <a:t>nonIBD</a:t>
            </a:r>
            <a:r>
              <a:rPr lang="en-US" sz="2400" dirty="0"/>
              <a:t> specificity</a:t>
            </a:r>
          </a:p>
          <a:p>
            <a:r>
              <a:rPr lang="en-US" sz="2400" dirty="0"/>
              <a:t>This is a research-support screening model, not a clinical diagnostic tool</a:t>
            </a:r>
          </a:p>
          <a:p>
            <a:r>
              <a:rPr lang="en-US" sz="2400" dirty="0"/>
              <a:t>external validation, alternative transformations, additional feature types, and subject-level longitudinal modeling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150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1023</Words>
  <Application>Microsoft Office PowerPoint</Application>
  <PresentationFormat>Widescreen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Classification of Inflammatory Bowel Disease Using Microbial Taxonomic Abundance </vt:lpstr>
      <vt:lpstr>Problem and Motivation </vt:lpstr>
      <vt:lpstr>Milestone 1 Retrospective </vt:lpstr>
      <vt:lpstr>Dataset Pivot After Milestone 2   </vt:lpstr>
      <vt:lpstr>Preprocessing and Leakage Control   </vt:lpstr>
      <vt:lpstr>Sample Counts by Diagnosis </vt:lpstr>
      <vt:lpstr>Binary Target Counts </vt:lpstr>
      <vt:lpstr>PCA of Genus-Level Microbiome Abundance </vt:lpstr>
      <vt:lpstr> Model Comparison Table </vt:lpstr>
      <vt:lpstr>Threshold Tuning Summary </vt:lpstr>
      <vt:lpstr>Confusion Matrix with Tuned Threshold </vt:lpstr>
      <vt:lpstr>ROC Curve   </vt:lpstr>
      <vt:lpstr>Precision-Recall Curve </vt:lpstr>
      <vt:lpstr>Top Genus-Level Features: Gradient Boosting </vt:lpstr>
      <vt:lpstr> Orange Visualization   </vt:lpstr>
      <vt:lpstr>PowerPoint Presentation</vt:lpstr>
      <vt:lpstr>Literature connection </vt:lpstr>
      <vt:lpstr>Conclusion and 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Salahuddin</dc:creator>
  <cp:lastModifiedBy>Hamza Salahuddin</cp:lastModifiedBy>
  <cp:revision>5</cp:revision>
  <dcterms:created xsi:type="dcterms:W3CDTF">2026-04-30T02:35:00Z</dcterms:created>
  <dcterms:modified xsi:type="dcterms:W3CDTF">2026-05-28T19:24:17Z</dcterms:modified>
</cp:coreProperties>
</file>